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9"/>
    <p:restoredTop sz="94646"/>
  </p:normalViewPr>
  <p:slideViewPr>
    <p:cSldViewPr snapToGrid="0">
      <p:cViewPr varScale="1">
        <p:scale>
          <a:sx n="98" d="100"/>
          <a:sy n="98" d="100"/>
        </p:scale>
        <p:origin x="3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74DD9-716B-2A60-E770-E3D9866F8B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D1A5E-BB21-D8B3-4C97-D736790C94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90AC7-EEDE-FC6D-2196-D41B6007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6468-91AF-E842-B5E3-A957AE08F79F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48BA2-877F-9BDE-13BE-2A26856C7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3BDDC-0641-844A-FBA8-F092C356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19EE-EC8B-5B49-80E9-D5E4E1C87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7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EB0A7-1804-C177-D39E-6F991763C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ACD15-E9DF-FF1A-3E7A-13C25D831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D69C4-3DE6-16A8-E8A0-C523C30F7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6468-91AF-E842-B5E3-A957AE08F79F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BBEB5-FA84-E561-7420-3B5131421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B15EA-6F47-ED62-A697-5D0B54CEE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19EE-EC8B-5B49-80E9-D5E4E1C87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9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8CF0C-6087-C559-D8FC-923095507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26F2D-C8BA-6EA7-E9C3-03E4360FC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78365-0AA0-2988-7F46-3CB546288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6468-91AF-E842-B5E3-A957AE08F79F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637F5-0FF5-0D91-CD05-F7D08B45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A88B4-0B2C-7C42-B176-DE2EFD1F7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19EE-EC8B-5B49-80E9-D5E4E1C87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9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73142-D6E6-B5A3-8B1E-C15F9A027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1C091-67A9-A404-91F3-840C35DC16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5F4ED1-0EB5-B00A-F31D-BC47C5D0C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4DC6B-77CC-ADC9-3E26-61DA7B5F7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6468-91AF-E842-B5E3-A957AE08F79F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31340-AFEB-31CC-D87C-6DB66E802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F444E-613B-EF65-674C-20B93E26A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19EE-EC8B-5B49-80E9-D5E4E1C87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62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A80C3-22BE-D330-9650-068DDE1E8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8EA0F-70F5-518B-F0EB-7987A17C0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1E6182-662F-A172-9083-9436E6BBD5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3E1F06-0E27-91E1-3A0C-5A99A8EF45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E3802F-5862-0368-19CE-60311825E6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0DF8C3-5487-B2E9-9E47-0A29EA80F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6468-91AF-E842-B5E3-A957AE08F79F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DDEB64-2048-4660-7A18-363DAE88A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7FCCC3-B320-328A-BD32-F36009A8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19EE-EC8B-5B49-80E9-D5E4E1C87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23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AE002-4AA6-913F-F3AF-4EBDA1CFE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3334C6-403D-D258-54D7-7364658E8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6468-91AF-E842-B5E3-A957AE08F79F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E9768F-38EB-AA66-6726-4350C1A7E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48BEB-DC6A-7641-D840-AEBCBCD9F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19EE-EC8B-5B49-80E9-D5E4E1C87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327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B53BA5-54CC-F89A-760D-30E112603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6468-91AF-E842-B5E3-A957AE08F79F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04CAE3-25E0-AFF8-38C5-21E8CC518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6B770-3EE6-FBB5-611E-371C8B699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19EE-EC8B-5B49-80E9-D5E4E1C87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28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9C0E6-717B-E8C4-0029-C34365623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4300A-C2CA-0C18-1FC2-181D32C9D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9643C-31BC-8CDD-0EE4-85B668A19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8E3C3-CFCD-82A2-D45F-24C8EAE09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6468-91AF-E842-B5E3-A957AE08F79F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9BC77-6C8B-BD45-D494-8652DCD8D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415D16-3EF0-FACD-59B9-E4A1A24DB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19EE-EC8B-5B49-80E9-D5E4E1C87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389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C74E0-BB27-53F3-A305-1A5914D1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B10A33-F820-D691-4F72-E8A71E6225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DC6841-EDE5-3151-B078-228F80D9E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386CE-387F-5F54-1354-963FE559B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6468-91AF-E842-B5E3-A957AE08F79F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9FE529-6D9A-02D5-6ADF-C4771D400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B8C7D-159B-4D8A-1A88-529D0DC1B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19EE-EC8B-5B49-80E9-D5E4E1C87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019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1B1BA-D7FD-A273-C9D0-5B995CED5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3C6A22-7F00-BBD9-0B0B-17B471F69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1A733-05B3-F510-D725-757D65A9A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6468-91AF-E842-B5E3-A957AE08F79F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24957-ED35-B0D4-C082-E6D9E5CD9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432C6-485A-0614-4557-686337A9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19EE-EC8B-5B49-80E9-D5E4E1C87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0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5EA633-0A82-CCBB-22D1-9C5FAC9473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98DA73-11B5-44E1-9C14-27BD35A201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0B1EC-FC82-ED30-A152-E5BDA89DA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6468-91AF-E842-B5E3-A957AE08F79F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BA081-139B-E3FC-929B-5C269831B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6943C-0B34-8E92-C55C-A51ECB552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19EE-EC8B-5B49-80E9-D5E4E1C87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152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8044A5-E765-B257-DA52-EECCEFD8D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AE1D5-A381-B1D0-98A4-D0ACC25B8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70BAE-F372-4C78-E8C0-C6323166C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76468-91AF-E842-B5E3-A957AE08F79F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ACDB6-2099-2434-373E-275D1195D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69273-CBA9-D8DD-EA57-60963AC138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F19EE-EC8B-5B49-80E9-D5E4E1C87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69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31E3C-F6A2-7623-A917-57E6D0D97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634" y="378823"/>
            <a:ext cx="11014166" cy="579814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User input: </a:t>
            </a:r>
          </a:p>
          <a:p>
            <a:pPr marL="0" indent="0">
              <a:buNone/>
            </a:pPr>
            <a:r>
              <a:rPr lang="en-US" dirty="0"/>
              <a:t>Create a study plan using available library books of subject data science and give me a week plan.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User output:</a:t>
            </a:r>
          </a:p>
          <a:p>
            <a:pPr marL="0" indent="0">
              <a:buNone/>
            </a:pPr>
            <a:r>
              <a:rPr lang="en-US" dirty="0"/>
              <a:t>Data‑Science 8‑Week Study Plan (Using the College Library’s Available Books)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Below is a concrete week‑by‑week schedule that pulls directly from the titles that the library currently holds. Each week lists the exact book (title + author + call number), the chapters/pages you should read, the hands‑on exercises, and a short checklist to keep you on track.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Library Books That Cover Core Data‑Science Topics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698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1D2B8F-D0A6-37B8-E7D1-ED69C426C6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718228"/>
              </p:ext>
            </p:extLst>
          </p:nvPr>
        </p:nvGraphicFramePr>
        <p:xfrm>
          <a:off x="152400" y="414605"/>
          <a:ext cx="11887200" cy="6557553"/>
        </p:xfrm>
        <a:graphic>
          <a:graphicData uri="http://schemas.openxmlformats.org/drawingml/2006/table">
            <a:tbl>
              <a:tblPr/>
              <a:tblGrid>
                <a:gridCol w="653143">
                  <a:extLst>
                    <a:ext uri="{9D8B030D-6E8A-4147-A177-3AD203B41FA5}">
                      <a16:colId xmlns:a16="http://schemas.microsoft.com/office/drawing/2014/main" val="2522926714"/>
                    </a:ext>
                  </a:extLst>
                </a:gridCol>
                <a:gridCol w="3944983">
                  <a:extLst>
                    <a:ext uri="{9D8B030D-6E8A-4147-A177-3AD203B41FA5}">
                      <a16:colId xmlns:a16="http://schemas.microsoft.com/office/drawing/2014/main" val="196597962"/>
                    </a:ext>
                  </a:extLst>
                </a:gridCol>
                <a:gridCol w="2259874">
                  <a:extLst>
                    <a:ext uri="{9D8B030D-6E8A-4147-A177-3AD203B41FA5}">
                      <a16:colId xmlns:a16="http://schemas.microsoft.com/office/drawing/2014/main" val="3628131012"/>
                    </a:ext>
                  </a:extLst>
                </a:gridCol>
                <a:gridCol w="1711235">
                  <a:extLst>
                    <a:ext uri="{9D8B030D-6E8A-4147-A177-3AD203B41FA5}">
                      <a16:colId xmlns:a16="http://schemas.microsoft.com/office/drawing/2014/main" val="1501000845"/>
                    </a:ext>
                  </a:extLst>
                </a:gridCol>
                <a:gridCol w="3317965">
                  <a:extLst>
                    <a:ext uri="{9D8B030D-6E8A-4147-A177-3AD203B41FA5}">
                      <a16:colId xmlns:a16="http://schemas.microsoft.com/office/drawing/2014/main" val="2796599505"/>
                    </a:ext>
                  </a:extLst>
                </a:gridCol>
              </a:tblGrid>
              <a:tr h="27878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dirty="0">
                          <a:effectLst/>
                          <a:latin typeface="inherit"/>
                        </a:rPr>
                        <a:t>#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Title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Author(s)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Call No. / Location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Main Topics Covered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7472258"/>
                  </a:ext>
                </a:extLst>
              </a:tr>
              <a:tr h="82423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1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dirty="0">
                          <a:effectLst/>
                          <a:latin typeface="inherit"/>
                        </a:rPr>
                        <a:t>Python Programming: An Introduction to Computer Science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dirty="0">
                          <a:effectLst/>
                          <a:latin typeface="inherit"/>
                        </a:rPr>
                        <a:t>John </a:t>
                      </a:r>
                      <a:r>
                        <a:rPr lang="en-IN" sz="1200" b="1" dirty="0" err="1">
                          <a:effectLst/>
                          <a:latin typeface="inherit"/>
                        </a:rPr>
                        <a:t>Zelle</a:t>
                      </a:r>
                      <a:endParaRPr lang="en-IN" sz="1200" b="1" dirty="0">
                        <a:effectLst/>
                        <a:latin typeface="inherit"/>
                      </a:endParaRP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QA 76.73 .Z55 2021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Python basics, control flow, functions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1545536"/>
                  </a:ext>
                </a:extLst>
              </a:tr>
              <a:tr h="60605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dirty="0">
                          <a:effectLst/>
                          <a:latin typeface="inherit"/>
                        </a:rPr>
                        <a:t>2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dirty="0">
                          <a:effectLst/>
                          <a:latin typeface="inherit"/>
                        </a:rPr>
                        <a:t>Automate the Boring Stuff with Python, 2nd ed.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Al Sweigart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QA 76.73 .S68 2020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Practical scripting, file I/O, APIs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7236941"/>
                  </a:ext>
                </a:extLst>
              </a:tr>
              <a:tr h="49696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3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dirty="0">
                          <a:effectLst/>
                          <a:latin typeface="inherit"/>
                        </a:rPr>
                        <a:t>Python for Data Analysis, 2nd ed.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dirty="0">
                          <a:effectLst/>
                          <a:latin typeface="inherit"/>
                        </a:rPr>
                        <a:t>Wes McKinney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QA 76.73 .M36 2017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Pandas, data‑cleaning, time‑series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1272204"/>
                  </a:ext>
                </a:extLst>
              </a:tr>
              <a:tr h="60605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4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dirty="0">
                          <a:effectLst/>
                          <a:latin typeface="inherit"/>
                        </a:rPr>
                        <a:t>Statistics for the Behavioral Sciences, 10th ed.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Frederick U. Gravetter &amp; Larry B. Wallnau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HD 540 .G73 2022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Descriptive stats, probability, hypothesis testing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183135"/>
                  </a:ext>
                </a:extLst>
              </a:tr>
              <a:tr h="60605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5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Probability and Statistics for Engineers, 9th ed.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dirty="0">
                          <a:effectLst/>
                          <a:latin typeface="inherit"/>
                        </a:rPr>
                        <a:t>Ronald E. Walpole et al.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HD 540 .W36 2020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Distributions, confidence intervals, regression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2804346"/>
                  </a:ext>
                </a:extLst>
              </a:tr>
              <a:tr h="49696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6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Data Visualization with Python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Kyran Murray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QA 76.73 .M68 2022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Matplotlib, Seaborn, interactive plots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092179"/>
                  </a:ext>
                </a:extLst>
              </a:tr>
              <a:tr h="9333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7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Hands‑On Machine Learning with Scikit‑Learn, Keras &amp; TensorFlow, 2nd ed.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Aurélien Géron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QA 76.9 .G36 2022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Supervised/unsupervised learning, model evaluation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5951280"/>
                  </a:ext>
                </a:extLst>
              </a:tr>
              <a:tr h="49696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8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Doing Data Science, 2nd ed.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Cathy O’Neil &amp; Rachel Schutt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QA 76.9 .O54 2022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End‑to‑end project workflow, case studies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8112832"/>
                  </a:ext>
                </a:extLst>
              </a:tr>
              <a:tr h="49696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9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Effective Python, 2nd ed.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Brett Slatkin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QA 76.73 .S55 2019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Python best practices, performance tips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1005923"/>
                  </a:ext>
                </a:extLst>
              </a:tr>
              <a:tr h="71514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10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Data Science for Business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Foster Provost &amp; Tom Fawcett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>
                          <a:effectLst/>
                          <a:latin typeface="inherit"/>
                        </a:rPr>
                        <a:t>HD 302 .P78 2013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dirty="0">
                          <a:effectLst/>
                          <a:latin typeface="inherit"/>
                        </a:rPr>
                        <a:t>Business‑oriented framing, CRISP‑DM methodology</a:t>
                      </a:r>
                    </a:p>
                  </a:txBody>
                  <a:tcPr marL="40216" marR="40216" marT="20108" marB="201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6140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3DEDBFB-ED32-F200-C88C-075D2293E860}"/>
              </a:ext>
            </a:extLst>
          </p:cNvPr>
          <p:cNvSpPr txBox="1"/>
          <p:nvPr/>
        </p:nvSpPr>
        <p:spPr>
          <a:xfrm>
            <a:off x="0" y="91440"/>
            <a:ext cx="4894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Library Books That Cover Core Data‑Science Topics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818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0FC9E411-4286-1CF7-0E50-CBC513D303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2186696"/>
              </p:ext>
            </p:extLst>
          </p:nvPr>
        </p:nvGraphicFramePr>
        <p:xfrm>
          <a:off x="224246" y="125143"/>
          <a:ext cx="11534501" cy="9613263"/>
        </p:xfrm>
        <a:graphic>
          <a:graphicData uri="http://schemas.openxmlformats.org/drawingml/2006/table">
            <a:tbl>
              <a:tblPr/>
              <a:tblGrid>
                <a:gridCol w="598714">
                  <a:extLst>
                    <a:ext uri="{9D8B030D-6E8A-4147-A177-3AD203B41FA5}">
                      <a16:colId xmlns:a16="http://schemas.microsoft.com/office/drawing/2014/main" val="2227115388"/>
                    </a:ext>
                  </a:extLst>
                </a:gridCol>
                <a:gridCol w="1237376">
                  <a:extLst>
                    <a:ext uri="{9D8B030D-6E8A-4147-A177-3AD203B41FA5}">
                      <a16:colId xmlns:a16="http://schemas.microsoft.com/office/drawing/2014/main" val="1537608342"/>
                    </a:ext>
                  </a:extLst>
                </a:gridCol>
                <a:gridCol w="3073367">
                  <a:extLst>
                    <a:ext uri="{9D8B030D-6E8A-4147-A177-3AD203B41FA5}">
                      <a16:colId xmlns:a16="http://schemas.microsoft.com/office/drawing/2014/main" val="2068962859"/>
                    </a:ext>
                  </a:extLst>
                </a:gridCol>
                <a:gridCol w="3540034">
                  <a:extLst>
                    <a:ext uri="{9D8B030D-6E8A-4147-A177-3AD203B41FA5}">
                      <a16:colId xmlns:a16="http://schemas.microsoft.com/office/drawing/2014/main" val="3822028732"/>
                    </a:ext>
                  </a:extLst>
                </a:gridCol>
                <a:gridCol w="3085010">
                  <a:extLst>
                    <a:ext uri="{9D8B030D-6E8A-4147-A177-3AD203B41FA5}">
                      <a16:colId xmlns:a16="http://schemas.microsoft.com/office/drawing/2014/main" val="23159838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>
                          <a:effectLst/>
                          <a:latin typeface="inherit"/>
                        </a:rPr>
                        <a:t>Week</a:t>
                      </a: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dirty="0">
                          <a:effectLst/>
                          <a:latin typeface="inherit"/>
                        </a:rPr>
                        <a:t>Focus</a:t>
                      </a: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dirty="0">
                          <a:effectLst/>
                          <a:latin typeface="inherit"/>
                        </a:rPr>
                        <a:t>Library Book(s) &amp; Chapters (Pages)</a:t>
                      </a: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dirty="0">
                          <a:effectLst/>
                          <a:latin typeface="inherit"/>
                        </a:rPr>
                        <a:t>Daily Tasks (≈1.5 h)</a:t>
                      </a: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>
                          <a:effectLst/>
                          <a:latin typeface="inherit"/>
                        </a:rPr>
                        <a:t>Weekly Deliverable</a:t>
                      </a: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948952"/>
                  </a:ext>
                </a:extLst>
              </a:tr>
              <a:tr h="9047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>
                          <a:effectLst/>
                          <a:latin typeface="inherit"/>
                        </a:rPr>
                        <a:t>1</a:t>
                      </a:r>
                      <a:endParaRPr lang="en-IN" sz="140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dirty="0">
                          <a:effectLst/>
                          <a:latin typeface="inherit"/>
                        </a:rPr>
                        <a:t>Python Fundamentals</a:t>
                      </a:r>
                      <a:endParaRPr lang="en-IN" sz="1400" dirty="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dirty="0">
                          <a:effectLst/>
                          <a:latin typeface="inherit"/>
                        </a:rPr>
                        <a:t>1️⃣ </a:t>
                      </a:r>
                      <a:r>
                        <a:rPr lang="en-IN" sz="1400" i="1" dirty="0">
                          <a:effectLst/>
                          <a:latin typeface="inherit"/>
                        </a:rPr>
                        <a:t>Python Programming</a:t>
                      </a:r>
                      <a:r>
                        <a:rPr lang="en-IN" sz="1400" dirty="0">
                          <a:effectLst/>
                          <a:latin typeface="inherit"/>
                        </a:rPr>
                        <a:t> – Ch 1‑4 (pp 1‑78)</a:t>
                      </a: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dirty="0">
                          <a:effectLst/>
                          <a:latin typeface="inherit"/>
                        </a:rPr>
                        <a:t>• 15 min review flashcards (variables, data types) </a:t>
                      </a:r>
                      <a:br>
                        <a:rPr lang="en-IN" sz="1400" dirty="0">
                          <a:effectLst/>
                          <a:latin typeface="inherit"/>
                        </a:rPr>
                      </a:br>
                      <a:r>
                        <a:rPr lang="en-IN" sz="1400" dirty="0">
                          <a:effectLst/>
                          <a:latin typeface="inherit"/>
                        </a:rPr>
                        <a:t>• 45 min reading (selected sections) </a:t>
                      </a:r>
                      <a:br>
                        <a:rPr lang="en-IN" sz="1400" dirty="0">
                          <a:effectLst/>
                          <a:latin typeface="inherit"/>
                        </a:rPr>
                      </a:br>
                      <a:r>
                        <a:rPr lang="en-IN" sz="1400" dirty="0">
                          <a:effectLst/>
                          <a:latin typeface="inherit"/>
                        </a:rPr>
                        <a:t>• 30 min coding exercises on </a:t>
                      </a:r>
                      <a:r>
                        <a:rPr lang="en-IN" sz="1400" i="1" dirty="0" err="1">
                          <a:effectLst/>
                          <a:latin typeface="inherit"/>
                        </a:rPr>
                        <a:t>replit.com</a:t>
                      </a:r>
                      <a:r>
                        <a:rPr lang="en-IN" sz="1400" dirty="0">
                          <a:effectLst/>
                          <a:latin typeface="inherit"/>
                        </a:rPr>
                        <a:t>(loops, conditionals) </a:t>
                      </a:r>
                      <a:br>
                        <a:rPr lang="en-IN" sz="1400" dirty="0">
                          <a:effectLst/>
                          <a:latin typeface="inherit"/>
                        </a:rPr>
                      </a:br>
                      <a:r>
                        <a:rPr lang="en-IN" sz="1400" dirty="0">
                          <a:effectLst/>
                          <a:latin typeface="inherit"/>
                        </a:rPr>
                        <a:t>• 15 min summary &amp; question log</a:t>
                      </a: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>
                          <a:effectLst/>
                          <a:latin typeface="inherit"/>
                        </a:rPr>
                        <a:t>Write a </a:t>
                      </a:r>
                      <a:r>
                        <a:rPr lang="en-IN" sz="1400" b="1">
                          <a:effectLst/>
                          <a:latin typeface="inherit"/>
                        </a:rPr>
                        <a:t>“Hello‑World” notebook</a:t>
                      </a:r>
                      <a:r>
                        <a:rPr lang="en-IN" sz="1400">
                          <a:effectLst/>
                          <a:latin typeface="inherit"/>
                        </a:rPr>
                        <a:t> that includes at least 5 different data‑type examples and a small script that reads a CSV file.</a:t>
                      </a: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724631"/>
                  </a:ext>
                </a:extLst>
              </a:tr>
              <a:tr h="85520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dirty="0">
                          <a:effectLst/>
                          <a:latin typeface="inherit"/>
                        </a:rPr>
                        <a:t>2</a:t>
                      </a:r>
                      <a:endParaRPr lang="en-IN" sz="1400" dirty="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dirty="0">
                          <a:effectLst/>
                          <a:latin typeface="inherit"/>
                        </a:rPr>
                        <a:t>Python for Real‑World Tasks</a:t>
                      </a:r>
                      <a:endParaRPr lang="en-IN" sz="1400" dirty="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dirty="0">
                          <a:effectLst/>
                          <a:latin typeface="inherit"/>
                        </a:rPr>
                        <a:t>2️⃣ </a:t>
                      </a:r>
                      <a:r>
                        <a:rPr lang="en-IN" sz="1400" i="1" dirty="0">
                          <a:effectLst/>
                          <a:latin typeface="inherit"/>
                        </a:rPr>
                        <a:t>Automate the Boring Stuff</a:t>
                      </a:r>
                      <a:r>
                        <a:rPr lang="en-IN" sz="1400" dirty="0">
                          <a:effectLst/>
                          <a:latin typeface="inherit"/>
                        </a:rPr>
                        <a:t> – Ch 4‑6 (pp 61‑120)</a:t>
                      </a: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dirty="0">
                          <a:effectLst/>
                          <a:latin typeface="inherit"/>
                        </a:rPr>
                        <a:t>• Review yesterday’s script </a:t>
                      </a:r>
                      <a:br>
                        <a:rPr lang="en-IN" sz="1400" dirty="0">
                          <a:effectLst/>
                          <a:latin typeface="inherit"/>
                        </a:rPr>
                      </a:br>
                      <a:r>
                        <a:rPr lang="en-IN" sz="1400" dirty="0">
                          <a:effectLst/>
                          <a:latin typeface="inherit"/>
                        </a:rPr>
                        <a:t>• Read about file handling &amp; web scraping </a:t>
                      </a:r>
                      <a:br>
                        <a:rPr lang="en-IN" sz="1400" dirty="0">
                          <a:effectLst/>
                          <a:latin typeface="inherit"/>
                        </a:rPr>
                      </a:br>
                      <a:r>
                        <a:rPr lang="en-IN" sz="1400" dirty="0">
                          <a:effectLst/>
                          <a:latin typeface="inherit"/>
                        </a:rPr>
                        <a:t>• Implement a script that pulls data from a public API (e.g., </a:t>
                      </a:r>
                      <a:r>
                        <a:rPr lang="en-IN" sz="1400" dirty="0" err="1">
                          <a:effectLst/>
                          <a:latin typeface="inherit"/>
                        </a:rPr>
                        <a:t>OpenWeather</a:t>
                      </a:r>
                      <a:r>
                        <a:rPr lang="en-IN" sz="1400" dirty="0">
                          <a:effectLst/>
                          <a:latin typeface="inherit"/>
                        </a:rPr>
                        <a:t>) </a:t>
                      </a:r>
                      <a:br>
                        <a:rPr lang="en-IN" sz="1400" dirty="0">
                          <a:effectLst/>
                          <a:latin typeface="inherit"/>
                        </a:rPr>
                      </a:br>
                      <a:r>
                        <a:rPr lang="en-IN" sz="1400" dirty="0">
                          <a:effectLst/>
                          <a:latin typeface="inherit"/>
                        </a:rPr>
                        <a:t>• Log any bugs &amp; solutions</a:t>
                      </a: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dirty="0">
                          <a:effectLst/>
                          <a:latin typeface="inherit"/>
                        </a:rPr>
                        <a:t>A </a:t>
                      </a:r>
                      <a:r>
                        <a:rPr lang="en-IN" sz="1400" b="1" dirty="0">
                          <a:effectLst/>
                          <a:latin typeface="inherit"/>
                        </a:rPr>
                        <a:t>data‑ingestion script</a:t>
                      </a:r>
                      <a:r>
                        <a:rPr lang="en-IN" sz="1400" dirty="0">
                          <a:effectLst/>
                          <a:latin typeface="inherit"/>
                        </a:rPr>
                        <a:t> saved to your GitHub (fetches JSON → CSV).</a:t>
                      </a: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6816201"/>
                  </a:ext>
                </a:extLst>
              </a:tr>
              <a:tr h="99666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>
                          <a:effectLst/>
                          <a:latin typeface="inherit"/>
                        </a:rPr>
                        <a:t>3</a:t>
                      </a:r>
                      <a:endParaRPr lang="en-IN" sz="140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>
                          <a:effectLst/>
                          <a:latin typeface="inherit"/>
                        </a:rPr>
                        <a:t>Intro to Statistics</a:t>
                      </a:r>
                      <a:endParaRPr lang="en-IN" sz="140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>
                          <a:effectLst/>
                          <a:latin typeface="inherit"/>
                        </a:rPr>
                        <a:t>4️⃣ </a:t>
                      </a:r>
                      <a:r>
                        <a:rPr lang="en-IN" sz="1400" i="1">
                          <a:effectLst/>
                          <a:latin typeface="inherit"/>
                        </a:rPr>
                        <a:t>Statistics for the Behavioral Sciences</a:t>
                      </a:r>
                      <a:r>
                        <a:rPr lang="en-IN" sz="1400">
                          <a:effectLst/>
                          <a:latin typeface="inherit"/>
                        </a:rPr>
                        <a:t> – Ch 2‑4 (pp 45‑130)</a:t>
                      </a: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>
                          <a:effectLst/>
                          <a:latin typeface="inherit"/>
                        </a:rPr>
                        <a:t>• Quick math refresher (mean, median) </a:t>
                      </a:r>
                      <a:br>
                        <a:rPr lang="en-IN" sz="1400">
                          <a:effectLst/>
                          <a:latin typeface="inherit"/>
                        </a:rPr>
                      </a:br>
                      <a:r>
                        <a:rPr lang="en-IN" sz="1400">
                          <a:effectLst/>
                          <a:latin typeface="inherit"/>
                        </a:rPr>
                        <a:t>• Read theory + examples </a:t>
                      </a:r>
                      <a:br>
                        <a:rPr lang="en-IN" sz="1400">
                          <a:effectLst/>
                          <a:latin typeface="inherit"/>
                        </a:rPr>
                      </a:br>
                      <a:r>
                        <a:rPr lang="en-IN" sz="1400">
                          <a:effectLst/>
                          <a:latin typeface="inherit"/>
                        </a:rPr>
                        <a:t>• Use Python’s statistics module to verify calculations on a sample dataset </a:t>
                      </a:r>
                      <a:br>
                        <a:rPr lang="en-IN" sz="1400">
                          <a:effectLst/>
                          <a:latin typeface="inherit"/>
                        </a:rPr>
                      </a:br>
                      <a:r>
                        <a:rPr lang="en-IN" sz="1400">
                          <a:effectLst/>
                          <a:latin typeface="inherit"/>
                        </a:rPr>
                        <a:t>• Write 3‑sentence summary of each concept</a:t>
                      </a: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>
                          <a:effectLst/>
                          <a:latin typeface="inherit"/>
                        </a:rPr>
                        <a:t>A </a:t>
                      </a:r>
                      <a:r>
                        <a:rPr lang="en-IN" sz="1400" b="1">
                          <a:effectLst/>
                          <a:latin typeface="inherit"/>
                        </a:rPr>
                        <a:t>one‑page cheat‑sheet</a:t>
                      </a:r>
                      <a:r>
                        <a:rPr lang="en-IN" sz="1400">
                          <a:effectLst/>
                          <a:latin typeface="inherit"/>
                        </a:rPr>
                        <a:t> of descriptive statistics formulas with Python snippets.</a:t>
                      </a: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5842339"/>
                  </a:ext>
                </a:extLst>
              </a:tr>
              <a:tr h="106739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>
                          <a:effectLst/>
                          <a:latin typeface="inherit"/>
                        </a:rPr>
                        <a:t>4</a:t>
                      </a:r>
                      <a:endParaRPr lang="en-IN" sz="140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>
                          <a:effectLst/>
                          <a:latin typeface="inherit"/>
                        </a:rPr>
                        <a:t>Probability &amp; Distributions</a:t>
                      </a:r>
                      <a:endParaRPr lang="en-IN" sz="140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dirty="0">
                          <a:effectLst/>
                          <a:latin typeface="inherit"/>
                        </a:rPr>
                        <a:t>5️⃣ </a:t>
                      </a:r>
                      <a:r>
                        <a:rPr lang="en-IN" sz="1400" i="1" dirty="0">
                          <a:effectLst/>
                          <a:latin typeface="inherit"/>
                        </a:rPr>
                        <a:t>Probability and Statistics for Engineers</a:t>
                      </a:r>
                      <a:r>
                        <a:rPr lang="en-IN" sz="1400" dirty="0">
                          <a:effectLst/>
                          <a:latin typeface="inherit"/>
                        </a:rPr>
                        <a:t> – Ch 5‑7 (pp 215‑310)</a:t>
                      </a: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>
                          <a:effectLst/>
                          <a:latin typeface="inherit"/>
                        </a:rPr>
                        <a:t>• Review previous week’s cheat‑sheet </a:t>
                      </a:r>
                      <a:br>
                        <a:rPr lang="en-IN" sz="1400">
                          <a:effectLst/>
                          <a:latin typeface="inherit"/>
                        </a:rPr>
                      </a:br>
                      <a:r>
                        <a:rPr lang="en-IN" sz="1400">
                          <a:effectLst/>
                          <a:latin typeface="inherit"/>
                        </a:rPr>
                        <a:t>• Read about normal, binomial, Poisson distributions </a:t>
                      </a:r>
                      <a:br>
                        <a:rPr lang="en-IN" sz="1400">
                          <a:effectLst/>
                          <a:latin typeface="inherit"/>
                        </a:rPr>
                      </a:br>
                      <a:r>
                        <a:rPr lang="en-IN" sz="1400">
                          <a:effectLst/>
                          <a:latin typeface="inherit"/>
                        </a:rPr>
                        <a:t>• Simulate 1,000 draws from each distribution in Python (use numpy.random) </a:t>
                      </a:r>
                      <a:br>
                        <a:rPr lang="en-IN" sz="1400">
                          <a:effectLst/>
                          <a:latin typeface="inherit"/>
                        </a:rPr>
                      </a:br>
                      <a:r>
                        <a:rPr lang="en-IN" sz="1400">
                          <a:effectLst/>
                          <a:latin typeface="inherit"/>
                        </a:rPr>
                        <a:t>• Plot histograms using Matplotlib</a:t>
                      </a: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>
                          <a:effectLst/>
                          <a:latin typeface="inherit"/>
                        </a:rPr>
                        <a:t>Plots</a:t>
                      </a:r>
                      <a:r>
                        <a:rPr lang="en-IN" sz="1400">
                          <a:effectLst/>
                          <a:latin typeface="inherit"/>
                        </a:rPr>
                        <a:t> of the three distributions saved as PNGs, with brief interpretation.</a:t>
                      </a: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092745"/>
                  </a:ext>
                </a:extLst>
              </a:tr>
              <a:tr h="106739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>
                          <a:effectLst/>
                          <a:latin typeface="inherit"/>
                        </a:rPr>
                        <a:t>5</a:t>
                      </a:r>
                      <a:endParaRPr lang="en-IN" sz="140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>
                          <a:effectLst/>
                          <a:latin typeface="inherit"/>
                        </a:rPr>
                        <a:t>Data Wrangling with Pandas</a:t>
                      </a:r>
                      <a:endParaRPr lang="en-IN" sz="140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>
                          <a:effectLst/>
                          <a:latin typeface="inherit"/>
                        </a:rPr>
                        <a:t>3️⃣ </a:t>
                      </a:r>
                      <a:r>
                        <a:rPr lang="en-IN" sz="1400" i="1">
                          <a:effectLst/>
                          <a:latin typeface="inherit"/>
                        </a:rPr>
                        <a:t>Python for Data Analysis</a:t>
                      </a:r>
                      <a:r>
                        <a:rPr lang="en-IN" sz="1400">
                          <a:effectLst/>
                          <a:latin typeface="inherit"/>
                        </a:rPr>
                        <a:t> – Ch 3‑5 (pp 45‑150)</a:t>
                      </a: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>
                          <a:effectLst/>
                          <a:latin typeface="inherit"/>
                        </a:rPr>
                        <a:t>• Load a messy CSV (e.g., Titanic dataset) </a:t>
                      </a:r>
                      <a:br>
                        <a:rPr lang="en-IN" sz="1400">
                          <a:effectLst/>
                          <a:latin typeface="inherit"/>
                        </a:rPr>
                      </a:br>
                      <a:r>
                        <a:rPr lang="en-IN" sz="1400">
                          <a:effectLst/>
                          <a:latin typeface="inherit"/>
                        </a:rPr>
                        <a:t>• Practice read_csv, dropna, fillna, groupby</a:t>
                      </a:r>
                      <a:br>
                        <a:rPr lang="en-IN" sz="1400">
                          <a:effectLst/>
                          <a:latin typeface="inherit"/>
                        </a:rPr>
                      </a:br>
                      <a:r>
                        <a:rPr lang="en-IN" sz="1400">
                          <a:effectLst/>
                          <a:latin typeface="inherit"/>
                        </a:rPr>
                        <a:t>• Create a Jupyter notebook documenting each step </a:t>
                      </a:r>
                      <a:br>
                        <a:rPr lang="en-IN" sz="1400">
                          <a:effectLst/>
                          <a:latin typeface="inherit"/>
                        </a:rPr>
                      </a:br>
                      <a:r>
                        <a:rPr lang="en-IN" sz="1400">
                          <a:effectLst/>
                          <a:latin typeface="inherit"/>
                        </a:rPr>
                        <a:t>• Write a summary of cleaning challenges</a:t>
                      </a: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dirty="0">
                          <a:effectLst/>
                          <a:latin typeface="inherit"/>
                        </a:rPr>
                        <a:t>Cleaned </a:t>
                      </a:r>
                      <a:r>
                        <a:rPr lang="en-IN" sz="1400" b="1" dirty="0">
                          <a:effectLst/>
                          <a:latin typeface="inherit"/>
                        </a:rPr>
                        <a:t>Titanic</a:t>
                      </a:r>
                      <a:r>
                        <a:rPr lang="en-IN" sz="1400" dirty="0">
                          <a:effectLst/>
                          <a:latin typeface="inherit"/>
                        </a:rPr>
                        <a:t> dataset (CSV) + notebook explaining each transformation.</a:t>
                      </a: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021287"/>
                  </a:ext>
                </a:extLst>
              </a:tr>
              <a:tr h="1138120">
                <a:tc>
                  <a:txBody>
                    <a:bodyPr/>
                    <a:lstStyle/>
                    <a:p>
                      <a:pPr algn="l" fontAlgn="ctr"/>
                      <a:endParaRPr lang="en-IN" sz="1000" dirty="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000" dirty="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000" dirty="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000" dirty="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00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2198926"/>
                  </a:ext>
                </a:extLst>
              </a:tr>
              <a:tr h="1138120">
                <a:tc>
                  <a:txBody>
                    <a:bodyPr/>
                    <a:lstStyle/>
                    <a:p>
                      <a:pPr algn="l" fontAlgn="ctr"/>
                      <a:endParaRPr lang="en-IN" sz="100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00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000" dirty="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000" dirty="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00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168405"/>
                  </a:ext>
                </a:extLst>
              </a:tr>
              <a:tr h="1279579">
                <a:tc>
                  <a:txBody>
                    <a:bodyPr/>
                    <a:lstStyle/>
                    <a:p>
                      <a:pPr algn="l" fontAlgn="ctr"/>
                      <a:endParaRPr lang="en-IN" sz="100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00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00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000" dirty="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000" dirty="0">
                        <a:effectLst/>
                        <a:latin typeface="inherit"/>
                      </a:endParaRPr>
                    </a:p>
                  </a:txBody>
                  <a:tcPr marL="13893" marR="13893" marT="6947" marB="69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5354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8073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743</Words>
  <Application>Microsoft Macintosh PowerPoint</Application>
  <PresentationFormat>Widescreen</PresentationFormat>
  <Paragraphs>95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inherit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Smriti Karmakar</dc:creator>
  <cp:lastModifiedBy>Smriti Karmakar</cp:lastModifiedBy>
  <cp:revision>1</cp:revision>
  <dcterms:created xsi:type="dcterms:W3CDTF">2026-06-04T12:37:51Z</dcterms:created>
  <dcterms:modified xsi:type="dcterms:W3CDTF">2026-06-04T13:26:25Z</dcterms:modified>
</cp:coreProperties>
</file>