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88" r:id="rId10"/>
    <p:sldId id="289" r:id="rId11"/>
    <p:sldId id="264" r:id="rId12"/>
    <p:sldId id="278" r:id="rId13"/>
    <p:sldId id="286" r:id="rId14"/>
    <p:sldId id="277" r:id="rId15"/>
    <p:sldId id="280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249"/>
    <p:restoredTop sz="94662"/>
  </p:normalViewPr>
  <p:slideViewPr>
    <p:cSldViewPr snapToGrid="0">
      <p:cViewPr varScale="1">
        <p:scale>
          <a:sx n="65" d="100"/>
          <a:sy n="65" d="100"/>
        </p:scale>
        <p:origin x="23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803915723"/>
              </p:ext>
            </p:extLst>
          </p:nvPr>
        </p:nvGraphicFramePr>
        <p:xfrm>
          <a:off x="1299257" y="2600315"/>
          <a:ext cx="9872326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69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7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7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Smriti Karmakar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smritikarmakar06@gmail.com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7702493908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>
                <a:solidFill>
                  <a:srgbClr val="000000"/>
                </a:solidFill>
                <a:effectLst/>
                <a:latin typeface="+mn-lt"/>
              </a:rPr>
              <a:t>Library AI Agent</a:t>
            </a:r>
            <a:endParaRPr lang="en-IN" sz="3200" dirty="0">
              <a:solidFill>
                <a:srgbClr val="000000"/>
              </a:solidFill>
              <a:effectLst/>
              <a:latin typeface="+mn-lt"/>
            </a:endParaRPr>
          </a:p>
          <a:p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27AA5-30B2-7606-DBB8-120C50491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54" y="3578887"/>
            <a:ext cx="891417" cy="118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380214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</a:t>
            </a:r>
            <a:r>
              <a:rPr lang="en-US" b="1" dirty="0">
                <a:latin typeface="+mj-lt"/>
              </a:rPr>
              <a:t>: </a:t>
            </a:r>
            <a:r>
              <a:rPr lang="en-IN" sz="1400" b="1" dirty="0">
                <a:solidFill>
                  <a:srgbClr val="000000"/>
                </a:solidFill>
                <a:effectLst/>
                <a:latin typeface="+mj-lt"/>
              </a:rPr>
              <a:t>Library AI Agent</a:t>
            </a:r>
            <a:endParaRPr lang="en-US" b="1" dirty="0">
              <a:latin typeface="+mj-lt"/>
            </a:endParaRP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Students often spend considerable time searching for relevant books and academic resources in libraries. Traditional library systems provide limited search capabilities and do not offer personalized recommendations based on a student's academic needs, semester, or subject of interest.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Finding suitable learning materials, checking book availability, and identifying recommended resources can be time-consuming and inefficient. Students need an intelligent system that can understand natural language queries and quickly provide accurate and relevant book suggestions.</a:t>
            </a:r>
          </a:p>
          <a:p>
            <a:pPr algn="l"/>
            <a:endParaRPr lang="en-IN" b="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The Objective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Build an AI-powered Library AI Agent that assists students in discovering learning resources and accessing library information efficiently. The solution should: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Natural Language Search – Allow students to search for books using conversational queries.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Book Recommendation System – Suggest books based on subjects, semesters, and learning requirements.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Author and Subject Search – Help users find books by author name or subject area.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Book Availability Check – Provide information about whether a book is available or currently issued.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Semester-wise Recommendations – Recommend books relevant to a student's academic semester.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Knowledge-Based Retrieval (RAG) – Retrieve information from the library knowledge base and generate accurate responses.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Personalized Learning Support – Guide students toward appropriate learning materials for academic growth.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AI-Powered Library Assistance – Improve accessibility, engagement, and utilization of library resources through intelligent interactions.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</a:t>
            </a:r>
            <a:r>
              <a:rPr lang="en-US" sz="2400" b="1"/>
              <a:t>Statement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953997-09AB-57F1-BB84-4E236781B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278548"/>
              </p:ext>
            </p:extLst>
          </p:nvPr>
        </p:nvGraphicFramePr>
        <p:xfrm>
          <a:off x="783771" y="1427363"/>
          <a:ext cx="10307562" cy="2961640"/>
        </p:xfrm>
        <a:graphic>
          <a:graphicData uri="http://schemas.openxmlformats.org/drawingml/2006/table">
            <a:tbl>
              <a:tblPr firstRow="1" bandRow="1">
                <a:tableStyleId>{0AAD8F4D-43EB-41E5-8A38-28AB6DFB1B60}</a:tableStyleId>
              </a:tblPr>
              <a:tblGrid>
                <a:gridCol w="5153781">
                  <a:extLst>
                    <a:ext uri="{9D8B030D-6E8A-4147-A177-3AD203B41FA5}">
                      <a16:colId xmlns:a16="http://schemas.microsoft.com/office/drawing/2014/main" val="965410175"/>
                    </a:ext>
                  </a:extLst>
                </a:gridCol>
                <a:gridCol w="5153781">
                  <a:extLst>
                    <a:ext uri="{9D8B030D-6E8A-4147-A177-3AD203B41FA5}">
                      <a16:colId xmlns:a16="http://schemas.microsoft.com/office/drawing/2014/main" val="3240878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82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 dirty="0"/>
                        <a:t>IBM </a:t>
                      </a:r>
                      <a:r>
                        <a:rPr lang="en-IN" b="0" dirty="0" err="1"/>
                        <a:t>watsonx.ai</a:t>
                      </a:r>
                      <a:endParaRPr lang="en-I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the AI platform for managing the Library AI Assistant and integrating AI capabilities.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394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IBM Granite Models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Understands user queries and generates intelligent responses about books, authors, subjects, and availability.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02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Retrieval-Augmented Generation (RAG)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Retrieves relevant information from the library dataset before generating accurate responses.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98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IBM </a:t>
                      </a:r>
                      <a:r>
                        <a:rPr lang="en-IN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watsonx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Orchestrate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Creates, manages, and deploys the Library AI Assistant workflow.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1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Base (Library Dataset)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Stores book details, author names, subjects, semester information, and availability status.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0781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DA4E3D-92F9-C7B8-01F1-7493AD928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545021"/>
              </p:ext>
            </p:extLst>
          </p:nvPr>
        </p:nvGraphicFramePr>
        <p:xfrm>
          <a:off x="783771" y="4389003"/>
          <a:ext cx="10307562" cy="731520"/>
        </p:xfrm>
        <a:graphic>
          <a:graphicData uri="http://schemas.openxmlformats.org/drawingml/2006/table">
            <a:tbl>
              <a:tblPr firstRow="1" bandRow="1">
                <a:tableStyleId>{0AAD8F4D-43EB-41E5-8A38-28AB6DFB1B60}</a:tableStyleId>
              </a:tblPr>
              <a:tblGrid>
                <a:gridCol w="5153781">
                  <a:extLst>
                    <a:ext uri="{9D8B030D-6E8A-4147-A177-3AD203B41FA5}">
                      <a16:colId xmlns:a16="http://schemas.microsoft.com/office/drawing/2014/main" val="2208015562"/>
                    </a:ext>
                  </a:extLst>
                </a:gridCol>
                <a:gridCol w="5153781">
                  <a:extLst>
                    <a:ext uri="{9D8B030D-6E8A-4147-A177-3AD203B41FA5}">
                      <a16:colId xmlns:a16="http://schemas.microsoft.com/office/drawing/2014/main" val="2392020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 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Interacts with students, answers queries, recommends books, and provides library information through natural language conversations.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43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algn="l"/>
            <a:r>
              <a:rPr lang="en-IN" sz="1600" b="0" i="0" dirty="0">
                <a:solidFill>
                  <a:srgbClr val="000000"/>
                </a:solidFill>
                <a:effectLst/>
              </a:rPr>
              <a:t>Proposed Solution: Library AI Agent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 proposed solution is an AI-powered Library AI Agent built using 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Orchestrate, 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b="0" i="0" dirty="0">
                <a:solidFill>
                  <a:srgbClr val="000000"/>
                </a:solidFill>
                <a:effectLst/>
              </a:rPr>
              <a:t>, and Granite Models. The system helps students quickly discover relevant books and learning resources through natural language interactions.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At its core, the solution uses Retrieval-Augmented Generation (RAG) to retrieve accurate information from the library knowledge base. The library dataset contains book details such as title, author, subject, availability status, and semester information.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 system consists of the following key components: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Library AI Assistant – Acts as the main interface for students and understands natural language queries.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Knowledge Base – Stores library information including books, authors, subjects, availability, and semester-wise categorization.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Recommendation Engine – Suggests books based on subjects, semesters, and student learning requirements.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Book Search Module – Allows students to search books by title, author, or subject.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Availability Checker – Provides information about whether a book is available or currently issued.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Semester Recommendation Module – Recommends books relevant to a student's academic semester.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Orchestrate manages the AI agent workflow, while 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provides AI capabilities and knowledge integration. Granite Models generate intelligent and context-aware responses.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Overall, the solution provides an intelligent digital library assistant that improves resource discovery, saves student time, and enhances access to academic learning materials.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IN" sz="2400" b="1" i="0" dirty="0">
                <a:solidFill>
                  <a:srgbClr val="000000"/>
                </a:solidFill>
                <a:effectLst/>
              </a:rPr>
              <a:t>Orchestrate </a:t>
            </a:r>
            <a:r>
              <a:rPr lang="en-US" sz="2400" b="1" dirty="0">
                <a:sym typeface="Times New Roman"/>
              </a:rPr>
              <a:t>component Used 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771921"/>
            <a:ext cx="882396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Agent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Library AI Assistant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Main AI agent responsible for handling student queries.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Knowledge Source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 err="1">
                <a:solidFill>
                  <a:srgbClr val="000000"/>
                </a:solidFill>
                <a:effectLst/>
              </a:rPr>
              <a:t>LibraryBooksKnowledge</a:t>
            </a:r>
            <a:endParaRPr lang="en-IN" b="0" i="0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Connected to the library dataset and used for information retrieval.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Knowledge Base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Contains book titles, authors, subjects, availability status, and semester details.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Foundation Model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GPT-OSS 120B / IBM Granite Model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Generates intelligent responses based on retrieved knowledge.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Prompt Instructions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Defines agent behavior, book search rules, and recommendation logic.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Welcome Message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Provides an introduction to the Library AI Assistant.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Quick Start Prompts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Predefined queries for easy interaction and demonstration.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Chat Interface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00000"/>
                </a:solidFill>
                <a:effectLst/>
              </a:rPr>
              <a:t>Allows students to communicate with the AI agent using natural language.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latin typeface="+mn-lt"/>
                <a:ea typeface="Times New Roman"/>
                <a:cs typeface="Arial" panose="020B0604020202020204" pitchFamily="34" charset="0"/>
                <a:sym typeface="Times New Roman"/>
              </a:rPr>
              <a:t>Orchestrate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+mn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latin typeface="+mn-lt"/>
                <a:sym typeface="Times New Roman"/>
              </a:rPr>
              <a:t>workflow</a:t>
            </a:r>
            <a:endParaRPr sz="2400" b="1" dirty="0">
              <a:latin typeface="+mn-lt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491EB-6171-9146-0D78-B16D360ABF80}"/>
              </a:ext>
            </a:extLst>
          </p:cNvPr>
          <p:cNvSpPr/>
          <p:nvPr/>
        </p:nvSpPr>
        <p:spPr>
          <a:xfrm>
            <a:off x="5501981" y="8107"/>
            <a:ext cx="2282023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Student Query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BA90A-CD48-EDC9-32B8-FFAF300EDF19}"/>
              </a:ext>
            </a:extLst>
          </p:cNvPr>
          <p:cNvSpPr/>
          <p:nvPr/>
        </p:nvSpPr>
        <p:spPr>
          <a:xfrm>
            <a:off x="4884756" y="854072"/>
            <a:ext cx="4120348" cy="6610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Library AI Assistant (IBM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Orchestrate Agent)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61EF0-5E95-47CB-1AFD-49E945624679}"/>
              </a:ext>
            </a:extLst>
          </p:cNvPr>
          <p:cNvSpPr/>
          <p:nvPr/>
        </p:nvSpPr>
        <p:spPr>
          <a:xfrm>
            <a:off x="5305502" y="3572818"/>
            <a:ext cx="2921555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IBM Granite Model Processing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6AF16-A8A9-93DF-0FF2-5EDF5D5B2CC6}"/>
              </a:ext>
            </a:extLst>
          </p:cNvPr>
          <p:cNvSpPr/>
          <p:nvPr/>
        </p:nvSpPr>
        <p:spPr>
          <a:xfrm>
            <a:off x="5305504" y="1876326"/>
            <a:ext cx="2921555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Knowledge Base (Library Dataset)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BE3ABE-2F2E-61CE-CF63-54F16270AA6C}"/>
              </a:ext>
            </a:extLst>
          </p:cNvPr>
          <p:cNvSpPr/>
          <p:nvPr/>
        </p:nvSpPr>
        <p:spPr>
          <a:xfrm>
            <a:off x="4884756" y="4421064"/>
            <a:ext cx="4120348" cy="153439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Generated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Output: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Book Recommendations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Author Information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Subject-wise Books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Semester-wise Resources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</a:rPr>
              <a:t>• Book Availability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Status</a:t>
            </a:r>
            <a:r>
              <a:rPr lang="en-IN" dirty="0" err="1"/>
              <a:t>hat</a:t>
            </a:r>
            <a:r>
              <a:rPr lang="en-IN" dirty="0"/>
              <a:t>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F7BFD9-9FAB-2474-3078-1507F03A66B0}"/>
              </a:ext>
            </a:extLst>
          </p:cNvPr>
          <p:cNvSpPr/>
          <p:nvPr/>
        </p:nvSpPr>
        <p:spPr>
          <a:xfrm>
            <a:off x="5625269" y="2724572"/>
            <a:ext cx="2282023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RAG Retrieval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3BDCA1-4BEF-4391-95CF-846628293D01}"/>
              </a:ext>
            </a:extLst>
          </p:cNvPr>
          <p:cNvSpPr/>
          <p:nvPr/>
        </p:nvSpPr>
        <p:spPr>
          <a:xfrm>
            <a:off x="5625269" y="6316686"/>
            <a:ext cx="2282023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Chat Response to Student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05F41B-541B-5F6A-27C5-F3071CDD2535}"/>
              </a:ext>
            </a:extLst>
          </p:cNvPr>
          <p:cNvCxnSpPr/>
          <p:nvPr/>
        </p:nvCxnSpPr>
        <p:spPr>
          <a:xfrm>
            <a:off x="6642992" y="522733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9B731C-6B6F-FFAF-C6FD-51CA69FB78D4}"/>
              </a:ext>
            </a:extLst>
          </p:cNvPr>
          <p:cNvCxnSpPr/>
          <p:nvPr/>
        </p:nvCxnSpPr>
        <p:spPr>
          <a:xfrm>
            <a:off x="6642992" y="1551593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D24F38-5067-7602-EA1F-042EA11AAE91}"/>
              </a:ext>
            </a:extLst>
          </p:cNvPr>
          <p:cNvCxnSpPr/>
          <p:nvPr/>
        </p:nvCxnSpPr>
        <p:spPr>
          <a:xfrm>
            <a:off x="6652101" y="2363343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2735EE-CB44-BB63-F267-F7E1D1EF1CB4}"/>
              </a:ext>
            </a:extLst>
          </p:cNvPr>
          <p:cNvCxnSpPr/>
          <p:nvPr/>
        </p:nvCxnSpPr>
        <p:spPr>
          <a:xfrm>
            <a:off x="6652101" y="4146129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93B7E1-AA5B-DDF8-51C4-458FC942EE85}"/>
              </a:ext>
            </a:extLst>
          </p:cNvPr>
          <p:cNvCxnSpPr/>
          <p:nvPr/>
        </p:nvCxnSpPr>
        <p:spPr>
          <a:xfrm>
            <a:off x="6652101" y="3296742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08C2E4-9C86-7274-AB9A-B0CF52885076}"/>
              </a:ext>
            </a:extLst>
          </p:cNvPr>
          <p:cNvCxnSpPr/>
          <p:nvPr/>
        </p:nvCxnSpPr>
        <p:spPr>
          <a:xfrm>
            <a:off x="6652101" y="5942156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C0DAF-6507-054D-0BC2-BB50DD85F6B7}"/>
              </a:ext>
            </a:extLst>
          </p:cNvPr>
          <p:cNvSpPr txBox="1"/>
          <p:nvPr/>
        </p:nvSpPr>
        <p:spPr>
          <a:xfrm>
            <a:off x="950976" y="1097280"/>
            <a:ext cx="788312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Student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Chat Interface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Library AI Assistant (IBM </a:t>
            </a:r>
            <a:r>
              <a:rPr lang="en-US" sz="2000" dirty="0" err="1"/>
              <a:t>watsonx</a:t>
            </a:r>
            <a:r>
              <a:rPr lang="en-US" sz="2000" dirty="0"/>
              <a:t> Orchestrate)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Knowledge Base (Library Dataset)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RAG Retrieval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IBM Granite Model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Book Search &amp; Recommendation Engine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Book Details + Author Info + Availability Status</a:t>
            </a:r>
          </a:p>
          <a:p>
            <a:r>
              <a:rPr lang="en-US" sz="2000" dirty="0"/>
              <a:t>   ↓</a:t>
            </a:r>
          </a:p>
          <a:p>
            <a:r>
              <a:rPr lang="en-US" sz="2000" dirty="0"/>
              <a:t>Student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77850-F070-187D-7379-E322226235C6}"/>
              </a:ext>
            </a:extLst>
          </p:cNvPr>
          <p:cNvSpPr txBox="1"/>
          <p:nvPr/>
        </p:nvSpPr>
        <p:spPr>
          <a:xfrm>
            <a:off x="10332720" y="2596896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903F-F21E-E921-45F1-3073EA648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365125"/>
            <a:ext cx="6257544" cy="31591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Results and Outputs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3DB8B-E7F7-AC95-6D11-DEACA2E8B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696" y="896111"/>
            <a:ext cx="3642360" cy="694945"/>
          </a:xfrm>
        </p:spPr>
        <p:txBody>
          <a:bodyPr>
            <a:normAutofit/>
          </a:bodyPr>
          <a:lstStyle/>
          <a:p>
            <a:r>
              <a:rPr lang="en-IN" sz="2000" dirty="0"/>
              <a:t>Agent Configuration-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F9828-6151-1C30-BE80-786D05B8E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6" y="1396759"/>
            <a:ext cx="5550234" cy="34742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D29A4E-B519-0674-6500-C88114ABB39F}"/>
              </a:ext>
            </a:extLst>
          </p:cNvPr>
          <p:cNvSpPr txBox="1"/>
          <p:nvPr/>
        </p:nvSpPr>
        <p:spPr>
          <a:xfrm>
            <a:off x="6232967" y="150051"/>
            <a:ext cx="2459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Knowledge Base Setup-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FD541B-FB60-B546-B50C-4E30A88C7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30" y="457828"/>
            <a:ext cx="6257544" cy="31400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4A908-EE44-21E2-6E7C-5BA3077C4F5D}"/>
              </a:ext>
            </a:extLst>
          </p:cNvPr>
          <p:cNvSpPr txBox="1"/>
          <p:nvPr/>
        </p:nvSpPr>
        <p:spPr>
          <a:xfrm>
            <a:off x="6096000" y="4871035"/>
            <a:ext cx="2112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User Input-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479C46-E6BB-AB01-65C8-D84A04CE4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733" y="3707058"/>
            <a:ext cx="4126238" cy="303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4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91D4-AB5D-EC16-D8F2-8D04676C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12711"/>
            <a:ext cx="3448050" cy="56832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User Output-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36F44E-FBC0-FF4C-D388-908813855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23404"/>
              </p:ext>
            </p:extLst>
          </p:nvPr>
        </p:nvGraphicFramePr>
        <p:xfrm>
          <a:off x="342900" y="681037"/>
          <a:ext cx="11391900" cy="6064252"/>
        </p:xfrm>
        <a:graphic>
          <a:graphicData uri="http://schemas.openxmlformats.org/drawingml/2006/table">
            <a:tbl>
              <a:tblPr/>
              <a:tblGrid>
                <a:gridCol w="637309">
                  <a:extLst>
                    <a:ext uri="{9D8B030D-6E8A-4147-A177-3AD203B41FA5}">
                      <a16:colId xmlns:a16="http://schemas.microsoft.com/office/drawing/2014/main" val="3999592268"/>
                    </a:ext>
                  </a:extLst>
                </a:gridCol>
                <a:gridCol w="3159991">
                  <a:extLst>
                    <a:ext uri="{9D8B030D-6E8A-4147-A177-3AD203B41FA5}">
                      <a16:colId xmlns:a16="http://schemas.microsoft.com/office/drawing/2014/main" val="3695971537"/>
                    </a:ext>
                  </a:extLst>
                </a:gridCol>
                <a:gridCol w="1898650">
                  <a:extLst>
                    <a:ext uri="{9D8B030D-6E8A-4147-A177-3AD203B41FA5}">
                      <a16:colId xmlns:a16="http://schemas.microsoft.com/office/drawing/2014/main" val="2552566857"/>
                    </a:ext>
                  </a:extLst>
                </a:gridCol>
                <a:gridCol w="1274618">
                  <a:extLst>
                    <a:ext uri="{9D8B030D-6E8A-4147-A177-3AD203B41FA5}">
                      <a16:colId xmlns:a16="http://schemas.microsoft.com/office/drawing/2014/main" val="1159082766"/>
                    </a:ext>
                  </a:extLst>
                </a:gridCol>
                <a:gridCol w="2522682">
                  <a:extLst>
                    <a:ext uri="{9D8B030D-6E8A-4147-A177-3AD203B41FA5}">
                      <a16:colId xmlns:a16="http://schemas.microsoft.com/office/drawing/2014/main" val="2200865184"/>
                    </a:ext>
                  </a:extLst>
                </a:gridCol>
                <a:gridCol w="1898650">
                  <a:extLst>
                    <a:ext uri="{9D8B030D-6E8A-4147-A177-3AD203B41FA5}">
                      <a16:colId xmlns:a16="http://schemas.microsoft.com/office/drawing/2014/main" val="1488130775"/>
                    </a:ext>
                  </a:extLst>
                </a:gridCol>
              </a:tblGrid>
              <a:tr h="49260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#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Title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Author(s)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Year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Why It’s Good for Beginners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Availability (Campus Library)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490305"/>
                  </a:ext>
                </a:extLst>
              </a:tr>
              <a:tr h="13367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1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Artificial Intelligence: A Guide for Thinking Humans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Melanie Mitchell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2019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Written in an engaging, non‑technical style; explains core concepts (machine learning, neural nets, ethics) with real‑world examples.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Available – 3 copies (2 on shelf, 1 in the digital collection)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393663"/>
                  </a:ext>
                </a:extLst>
              </a:tr>
              <a:tr h="9977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2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Artificial Intelligence: Foundations of Computational Agents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David L. Poole &amp; Alan K. Mackworth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2021 (2nd ed.)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Provides a gentle introduction to the logical and probabilistic foundations of AI, with clear explanations and exercises.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Available – 1 copy on shelf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374121"/>
                  </a:ext>
                </a:extLst>
              </a:tr>
              <a:tr h="106551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3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AI Superpowers: China, Silicon Valley, and the New World Order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Kai‑Fu Lee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2018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Focuses on the societal impact of AI rather than heavy math; good for readers who want context and motivation.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Available – Digital PDF (library e‑resource)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456171"/>
                  </a:ext>
                </a:extLst>
              </a:tr>
              <a:tr h="9977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4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Deep Learning for Beginners: A Visual Introduction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Dr. Amit Kumar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2022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Uses visual diagrams and step‑by‑step walkthroughs of neural‑network basics; minimal prerequisite math.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Checked Out – Expected return in 3 days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226170"/>
                  </a:ext>
                </a:extLst>
              </a:tr>
              <a:tr h="117399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5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Machine Learning for Absolute Beginners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Oliver Theobald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2020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>
                          <a:effectLst/>
                          <a:latin typeface="inherit"/>
                        </a:rPr>
                        <a:t>Covers the essential ideas of machine learning (a core AI subfield) with plain‑English explanations and simple Python snippets.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dirty="0">
                          <a:effectLst/>
                          <a:latin typeface="inherit"/>
                        </a:rPr>
                        <a:t>Available – 2 copies (both on shelf)</a:t>
                      </a:r>
                    </a:p>
                  </a:txBody>
                  <a:tcPr marL="36021" marR="36021" marT="18011" marB="18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14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06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167493"/>
            <a:ext cx="74066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Role of Agentic AI in Library AI Agent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Agentic AI enables the Library AI Agent to function as an intelligent and autonomous academic assistant rather than a simple search tool. Using IBM </a:t>
            </a:r>
            <a:r>
              <a:rPr lang="en-IN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i="0" dirty="0">
                <a:solidFill>
                  <a:srgbClr val="000000"/>
                </a:solidFill>
                <a:effectLst/>
              </a:rPr>
              <a:t> Orchestrate, </a:t>
            </a:r>
            <a:r>
              <a:rPr lang="en-IN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i="0" dirty="0">
                <a:solidFill>
                  <a:srgbClr val="000000"/>
                </a:solidFill>
                <a:effectLst/>
              </a:rPr>
              <a:t>, and Granite Models, it understands student queries, retrieves relevant information from the library knowledge base, and provides accurate recommendations.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The agent performs multiple tasks such as searching books by title, author, or subject, checking availability status, and recommending books based on academic requirements. This agent-driven approach improves resource discovery and reduces the time students spend searching for learning materials.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Agentic AI provides context awareness, understanding the student's query and retrieving the most relevant books from the library dataset. It can answer natural language questions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00000"/>
                </a:solidFill>
                <a:effectLst/>
              </a:rPr>
              <a:t>"Show me DBMS books"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00000"/>
                </a:solidFill>
                <a:effectLst/>
              </a:rPr>
              <a:t>"Who wrote Database System Concepts?"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00000"/>
                </a:solidFill>
                <a:effectLst/>
              </a:rPr>
              <a:t>"Recommend books for Artificial Intelligence"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000000"/>
                </a:solidFill>
                <a:effectLst/>
              </a:rPr>
              <a:t>"Suggest books for 4th semester students"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The system uses Retrieval-Augmented Generation (RAG) to fetch information from the library knowledge base before generating responses. This ensures that recommendations are accurate, relevant, and based on available library resources.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Additionally, Agentic AI supports personalized learning by guiding students toward suitable books and study materials aligned with their academic interests.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Overall, Agentic AI makes the Library AI Agent intelligent, interactive, and student-centric, helping improve access to educational resources and enhancing the learning </a:t>
            </a:r>
            <a:r>
              <a:rPr lang="en-IN" b="0" i="0" dirty="0">
                <a:solidFill>
                  <a:srgbClr val="000000"/>
                </a:solidFill>
                <a:effectLst/>
              </a:rPr>
              <a:t>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IBM </a:t>
            </a:r>
            <a:r>
              <a:rPr lang="en-IN" sz="1800" b="1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sz="1800" b="1" i="0" dirty="0">
                <a:solidFill>
                  <a:srgbClr val="000000"/>
                </a:solidFill>
                <a:effectLst/>
              </a:rPr>
              <a:t> Orchestrate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Used to design, build, and manage the Library AI Assistant workflow.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IBM Granite Models / Foundation Models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Used for natural language understanding, reasoning, and generating intelligent responses to student queries.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IBM </a:t>
            </a:r>
            <a:r>
              <a:rPr lang="en-IN" sz="1800" b="1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Used for AI model integration, knowledge management, and agent configuration.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IBM Cloud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Provides a secure, reliable, and scalable platform for deploying and managing the Library AI Agent.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Knowledge Base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Stores library information such as book titles, authors, subjects, availability status, and semester details.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RAG (Retrieval-Augmented Generation)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Retrieves relevant information from the library dataset before generating responses, ensuring accurate recommendations.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Library Dataset (Excel File)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Acts as the primary data source containing all library book records.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00000"/>
                </a:solidFill>
                <a:effectLst/>
              </a:rPr>
              <a:t>Natural Language Processing (NLP)</a:t>
            </a:r>
            <a:r>
              <a:rPr lang="en-IN" sz="1800" b="0" i="0" dirty="0">
                <a:solidFill>
                  <a:srgbClr val="000000"/>
                </a:solidFill>
                <a:effectLst/>
              </a:rPr>
              <a:t> – Enables students to interact with the system using conversational language instead of traditional keyword searches.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 proposed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Library AI Agent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stands out by combining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Agentic AI, Retrieval-Augmented Generation (RAG), and intelligent academic resource discovery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into a single system.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Intelligent Natural Language Search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Instead of using traditional keyword-based library searches, students can interact with the system using natural language queries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"Show me DBMS books"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"Who wrote Database System Concepts?"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"Suggest books for 4th semester"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RAG-Based Information Retrieval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 system retrieves real-time information from the library knowledge base before generating responses, ensuring accurate and relevant recommendations.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Personalized Book Recommendations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Provides subject-wise and semester-wise book suggestions based on student academic requirements.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Author and Subject Discovery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Allows students to easily find books by specific authors, subjects, or areas of interest.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Book Availability Tracking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Helps users identify whether a book is available or currently issued, improving library resource utilization.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Agentic AI-Powered Assistance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Uses IBM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0" i="0" dirty="0">
                <a:solidFill>
                  <a:srgbClr val="000000"/>
                </a:solidFill>
                <a:effectLst/>
              </a:rPr>
              <a:t> Orchestrate and Granite Models to understand queries, retrieve information, and generate intelligent responses autonomously.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Student-Centric Learning Support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Guides students toward appropriate study materials, improving accessibility to academic resources.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Scalable and Cloud-Based Solution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Built using IBM Cloud, </a:t>
            </a:r>
            <a:r>
              <a:rPr lang="en-IN" b="0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b="0" i="0" dirty="0">
                <a:solidFill>
                  <a:srgbClr val="000000"/>
                </a:solidFill>
                <a:effectLst/>
              </a:rPr>
              <a:t>, and Granite Models, ensuring reliability, scalability, and efficient knowledge retrieval.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266007" y="1153712"/>
            <a:ext cx="10167297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github.com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/smriti460/Library-AI-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/>
            <a:r>
              <a:rPr lang="en-IN" sz="1600" b="1" i="0" dirty="0">
                <a:solidFill>
                  <a:srgbClr val="000000"/>
                </a:solidFill>
                <a:effectLst/>
              </a:rPr>
              <a:t>1. Book Reservation and Waitlist Management</a:t>
            </a:r>
          </a:p>
          <a:p>
            <a:pPr algn="l"/>
            <a:r>
              <a:rPr lang="en-IN" sz="1600" b="0" i="0" dirty="0">
                <a:solidFill>
                  <a:srgbClr val="000000"/>
                </a:solidFill>
                <a:effectLst/>
              </a:rPr>
              <a:t>The system can be enhanced to allow students to reserve books online and join a waitlist when a book is unavailable. This will improve library resource management and user convenience.</a:t>
            </a:r>
          </a:p>
          <a:p>
            <a:pPr algn="l"/>
            <a:endParaRPr lang="en-IN" sz="1600" b="1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1600" b="1" i="0" dirty="0">
                <a:solidFill>
                  <a:srgbClr val="000000"/>
                </a:solidFill>
                <a:effectLst/>
              </a:rPr>
              <a:t>2. Personalized Recommendation System</a:t>
            </a:r>
          </a:p>
          <a:p>
            <a:pPr algn="l"/>
            <a:r>
              <a:rPr lang="en-IN" sz="1600" b="0" i="0" dirty="0">
                <a:solidFill>
                  <a:srgbClr val="000000"/>
                </a:solidFill>
                <a:effectLst/>
              </a:rPr>
              <a:t>Future versions can analyze student interests, academic courses, and previous searches to provide highly personalized book recommendations and learning resources.</a:t>
            </a:r>
            <a:br>
              <a:rPr lang="en-IN" sz="1600" b="0" i="0" dirty="0">
                <a:solidFill>
                  <a:srgbClr val="000000"/>
                </a:solidFill>
                <a:effectLst/>
              </a:rPr>
            </a:br>
            <a:endParaRPr lang="en-IN" sz="1600" b="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1600" b="1" i="0" dirty="0">
                <a:solidFill>
                  <a:srgbClr val="000000"/>
                </a:solidFill>
                <a:effectLst/>
              </a:rPr>
              <a:t>3. Voice-Enabled and Multilingual Support</a:t>
            </a:r>
          </a:p>
          <a:p>
            <a:pPr algn="l"/>
            <a:r>
              <a:rPr lang="en-IN" sz="1600" b="0" i="0" dirty="0">
                <a:solidFill>
                  <a:srgbClr val="000000"/>
                </a:solidFill>
                <a:effectLst/>
              </a:rPr>
              <a:t>The Library AI Agent can be upgraded with voice interaction and support for multiple languages, allowing students to search for books and resources using speech in their preferred language.</a:t>
            </a:r>
          </a:p>
          <a:p>
            <a:pPr algn="l"/>
            <a:endParaRPr lang="en-IN" sz="1600" b="1" dirty="0"/>
          </a:p>
          <a:p>
            <a:pPr algn="l"/>
            <a:r>
              <a:rPr lang="en-IN" sz="1600" b="1" dirty="0"/>
              <a:t>4</a:t>
            </a:r>
            <a:r>
              <a:rPr lang="en-IN" sz="1600" b="1" i="0" dirty="0">
                <a:solidFill>
                  <a:srgbClr val="000000"/>
                </a:solidFill>
                <a:effectLst/>
              </a:rPr>
              <a:t>. Mobile Application Support 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A dedicated mobile application can be developed to allow students to access the Library AI Agent anytime and anywhere.</a:t>
            </a:r>
          </a:p>
          <a:p>
            <a:pPr algn="l"/>
            <a:endParaRPr lang="en-IN" sz="16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1948</Words>
  <Application>Microsoft Macintosh PowerPoint</Application>
  <PresentationFormat>Widescreen</PresentationFormat>
  <Paragraphs>213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-webkit-standard</vt:lpstr>
      <vt:lpstr>Arial</vt:lpstr>
      <vt:lpstr>Calibri</vt:lpstr>
      <vt:lpstr>inherit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Outputs</vt:lpstr>
      <vt:lpstr>User Output-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Smriti Karmakar</cp:lastModifiedBy>
  <cp:revision>25</cp:revision>
  <dcterms:created xsi:type="dcterms:W3CDTF">2025-07-08T05:06:56Z</dcterms:created>
  <dcterms:modified xsi:type="dcterms:W3CDTF">2026-06-04T15:01:33Z</dcterms:modified>
</cp:coreProperties>
</file>