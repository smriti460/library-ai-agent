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8"/>
  </p:notesMasterIdLst>
  <p:sldIdLst>
    <p:sldId id="283" r:id="rId2"/>
    <p:sldId id="257" r:id="rId3"/>
    <p:sldId id="282" r:id="rId4"/>
    <p:sldId id="284" r:id="rId5"/>
    <p:sldId id="285" r:id="rId6"/>
    <p:sldId id="281" r:id="rId7"/>
    <p:sldId id="279" r:id="rId8"/>
    <p:sldId id="262" r:id="rId9"/>
    <p:sldId id="288" r:id="rId10"/>
    <p:sldId id="289" r:id="rId11"/>
    <p:sldId id="264" r:id="rId12"/>
    <p:sldId id="278" r:id="rId13"/>
    <p:sldId id="286" r:id="rId14"/>
    <p:sldId id="277" r:id="rId15"/>
    <p:sldId id="280" r:id="rId16"/>
    <p:sldId id="276" r:id="rId1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7" roundtripDataSignature="AMtx7mjt3491jQ7aCoyIz2WXeHKroE7t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AAD8F4D-43EB-41E5-8A38-28AB6DFB1B60}">
  <a:tblStyle styleId="{0AAD8F4D-43EB-41E5-8A38-28AB6DFB1B6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0573"/>
    <p:restoredTop sz="94671"/>
  </p:normalViewPr>
  <p:slideViewPr>
    <p:cSldViewPr snapToGrid="0">
      <p:cViewPr>
        <p:scale>
          <a:sx n="75" d="100"/>
          <a:sy n="75" d="100"/>
        </p:scale>
        <p:origin x="656" y="8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48C2B95B-FB15-C156-6AF1-35B358181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770A13E9-BC77-63DA-E106-A3FA80228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29067B0F-2F4F-7081-A661-0AE31BFBB7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055410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20A8E369-C804-D8D2-383B-03E8A5478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168FC73D-F867-8E13-0025-1B40818921D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449581B4-9B47-7782-B749-078618A6E57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051513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E37D20EF-0791-5303-F96E-0F0C1B50B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9DCBA8EB-6D71-7B5E-841C-4BFFBDA5F1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5C2CD162-5BE5-06C8-E06C-B4A49D4BCF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313540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>
          <a:extLst>
            <a:ext uri="{FF2B5EF4-FFF2-40B4-BE49-F238E27FC236}">
              <a16:creationId xmlns:a16="http://schemas.microsoft.com/office/drawing/2014/main" id="{59B870D7-ED5B-C7CD-FB99-2991954CA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>
            <a:extLst>
              <a:ext uri="{FF2B5EF4-FFF2-40B4-BE49-F238E27FC236}">
                <a16:creationId xmlns:a16="http://schemas.microsoft.com/office/drawing/2014/main" id="{C8B270BB-F67C-52E3-249C-6FE0C237CA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5:notes">
            <a:extLst>
              <a:ext uri="{FF2B5EF4-FFF2-40B4-BE49-F238E27FC236}">
                <a16:creationId xmlns:a16="http://schemas.microsoft.com/office/drawing/2014/main" id="{151B863E-6240-36E9-EB23-2DAA667D25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798578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79463AA-D7FA-5F7E-C4D0-06BDEDCBB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A84E3171-2C5C-8738-5718-5608CE1B13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E16E406D-2512-5EF2-0167-6C89534695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349666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11626E4B-E119-2382-6F8F-518641144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01A6FF9F-971F-6CD8-61F5-25638A5985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C8EB5C80-6A4B-AE05-9BE0-03B5AF5C22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8273657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C2F88CF5-D0C3-0228-6C1A-E849738B9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15C41DBA-EB5E-9EB1-28D2-68EF3081A2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9AACA92E-BC74-25E5-B8D5-2E658F81C2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75871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FB18EFA4-CD13-16C4-504B-6DB7E86CE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E8E16183-6BFA-E60A-1235-F3BFB1B1F6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C4420B06-3455-3F20-5E28-90535F24DA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6517532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466C47D1-19F6-52AF-3914-DD3C99058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ACA1F779-4C2B-4CD1-FBDD-A40F0A3223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40004D30-6E86-E263-D5DA-7577B1C759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2216939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2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97BF8-B3EC-77A2-9BFD-D66830272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600" b="1" dirty="0"/>
              <a:t>IBM University Engagement Project Submission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AB85A1-2169-FF43-3E91-E2E8ADA742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4730" y="3903663"/>
            <a:ext cx="10515600" cy="1500187"/>
          </a:xfrm>
        </p:spPr>
        <p:txBody>
          <a:bodyPr/>
          <a:lstStyle/>
          <a:p>
            <a:pPr algn="ctr"/>
            <a:r>
              <a:rPr lang="en-US" b="1" i="1" dirty="0"/>
              <a:t>“Exploring the Power of Agentic AI with IBM Granite and </a:t>
            </a:r>
            <a:r>
              <a:rPr lang="en-US" b="1" i="1" dirty="0" err="1"/>
              <a:t>LangFlow</a:t>
            </a:r>
            <a:r>
              <a:rPr lang="en-US" b="1" i="1" dirty="0"/>
              <a:t>”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575646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690624" y="4425370"/>
            <a:ext cx="10795794" cy="199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endParaRPr sz="15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1102321" y="1174639"/>
            <a:ext cx="7426406" cy="451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endParaRPr sz="3200" b="1" i="0" u="none" strike="noStrike" cap="none" dirty="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96" name="Google Shape;96;p2"/>
          <p:cNvGraphicFramePr/>
          <p:nvPr>
            <p:extLst>
              <p:ext uri="{D42A27DB-BD31-4B8C-83A1-F6EECF244321}">
                <p14:modId xmlns:p14="http://schemas.microsoft.com/office/powerpoint/2010/main" val="1803915723"/>
              </p:ext>
            </p:extLst>
          </p:nvPr>
        </p:nvGraphicFramePr>
        <p:xfrm>
          <a:off x="1299257" y="2600315"/>
          <a:ext cx="9872326" cy="2167128"/>
        </p:xfrm>
        <a:graphic>
          <a:graphicData uri="http://schemas.openxmlformats.org/drawingml/2006/table">
            <a:tbl>
              <a:tblPr>
                <a:noFill/>
                <a:tableStyleId>{0AAD8F4D-43EB-41E5-8A38-28AB6DFB1B60}</a:tableStyleId>
              </a:tblPr>
              <a:tblGrid>
                <a:gridCol w="21697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75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6751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6751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7323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Student Name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Recent Passport Photo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Email ID 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Mobile number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[WhatsApp] 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3891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Smriti Karmakar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smritikarmakar06@gmail.com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7702493908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A828B9EF-C084-F5D4-CA27-75AF7D995640}"/>
              </a:ext>
            </a:extLst>
          </p:cNvPr>
          <p:cNvSpPr txBox="1"/>
          <p:nvPr/>
        </p:nvSpPr>
        <p:spPr>
          <a:xfrm>
            <a:off x="1206164" y="1460724"/>
            <a:ext cx="102802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Domain of  Project – </a:t>
            </a:r>
            <a:r>
              <a:rPr lang="en-IN" sz="32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Education</a:t>
            </a:r>
            <a:endParaRPr lang="en-IN" sz="2400" b="1" dirty="0">
              <a:highlight>
                <a:srgbClr val="FFFF00"/>
              </a:highligh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723CA3-EC2D-165A-F109-3759C4E9C8A4}"/>
              </a:ext>
            </a:extLst>
          </p:cNvPr>
          <p:cNvSpPr txBox="1"/>
          <p:nvPr/>
        </p:nvSpPr>
        <p:spPr>
          <a:xfrm>
            <a:off x="1206162" y="551965"/>
            <a:ext cx="958117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Project Tile – </a:t>
            </a:r>
            <a:r>
              <a:rPr lang="en-IN" sz="2400" dirty="0">
                <a:solidFill>
                  <a:srgbClr val="000000"/>
                </a:solidFill>
                <a:effectLst/>
                <a:latin typeface="+mn-lt"/>
              </a:rPr>
              <a:t>Library AI Agent</a:t>
            </a:r>
            <a:endParaRPr lang="en-IN" sz="3200" dirty="0">
              <a:solidFill>
                <a:srgbClr val="000000"/>
              </a:solidFill>
              <a:effectLst/>
              <a:latin typeface="+mn-lt"/>
            </a:endParaRPr>
          </a:p>
          <a:p>
            <a:endParaRPr lang="en-IN" sz="2400" b="1" dirty="0">
              <a:highlight>
                <a:srgbClr val="FFFF00"/>
              </a:highlight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2627AA5-30B2-7606-DBB8-120C504911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4154" y="3578887"/>
            <a:ext cx="891417" cy="118855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F4C0A7C6-2888-EA53-35AB-4072E6B1F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6F6745E-14BA-0766-CE1E-32E29663832D}"/>
              </a:ext>
            </a:extLst>
          </p:cNvPr>
          <p:cNvSpPr txBox="1"/>
          <p:nvPr/>
        </p:nvSpPr>
        <p:spPr>
          <a:xfrm>
            <a:off x="576072" y="1380214"/>
            <a:ext cx="1060704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b="1" dirty="0"/>
              <a:t>Problem Statement </a:t>
            </a:r>
            <a:r>
              <a:rPr lang="en-US" b="1" dirty="0">
                <a:latin typeface="+mj-lt"/>
              </a:rPr>
              <a:t>: </a:t>
            </a:r>
            <a:r>
              <a:rPr lang="en-IN" sz="1400" b="1" dirty="0">
                <a:solidFill>
                  <a:srgbClr val="000000"/>
                </a:solidFill>
                <a:effectLst/>
                <a:latin typeface="+mj-lt"/>
              </a:rPr>
              <a:t>Library AI Agent</a:t>
            </a:r>
            <a:endParaRPr lang="en-US" b="1" dirty="0">
              <a:latin typeface="+mj-lt"/>
            </a:endParaRPr>
          </a:p>
          <a:p>
            <a:pPr fontAlgn="base"/>
            <a:endParaRPr lang="en-US" b="1" dirty="0"/>
          </a:p>
          <a:p>
            <a:pPr fontAlgn="base"/>
            <a:r>
              <a:rPr lang="en-US" b="1" dirty="0"/>
              <a:t>The Challenge</a:t>
            </a:r>
            <a:r>
              <a:rPr lang="en-US" dirty="0"/>
              <a:t> </a:t>
            </a:r>
          </a:p>
          <a:p>
            <a:pPr algn="l"/>
            <a:r>
              <a:rPr lang="en-IN" b="0" i="0" dirty="0">
                <a:solidFill>
                  <a:srgbClr val="000000"/>
                </a:solidFill>
                <a:effectLst/>
              </a:rPr>
              <a:t>Students often spend considerable time searching for relevant books and academic resources in libraries. Traditional library systems provide limited search capabilities and do not offer personalized recommendations based on a student's academic needs, semester, or subject of interest.</a:t>
            </a:r>
          </a:p>
          <a:p>
            <a:pPr algn="l"/>
            <a:r>
              <a:rPr lang="en-IN" b="0" i="0" dirty="0">
                <a:solidFill>
                  <a:srgbClr val="000000"/>
                </a:solidFill>
                <a:effectLst/>
              </a:rPr>
              <a:t>Finding suitable learning materials, checking book availability, and identifying recommended resources can be time-consuming and inefficient. Students need an intelligent system that can understand natural language queries and quickly provide accurate and relevant book suggestions.</a:t>
            </a:r>
          </a:p>
          <a:p>
            <a:pPr algn="l"/>
            <a:endParaRPr lang="en-IN" b="0" i="0" dirty="0">
              <a:solidFill>
                <a:srgbClr val="000000"/>
              </a:solidFill>
              <a:effectLst/>
            </a:endParaRPr>
          </a:p>
          <a:p>
            <a:pPr algn="l"/>
            <a:r>
              <a:rPr lang="en-IN" b="1" i="0" dirty="0">
                <a:solidFill>
                  <a:srgbClr val="000000"/>
                </a:solidFill>
                <a:effectLst/>
              </a:rPr>
              <a:t>The Objective</a:t>
            </a:r>
          </a:p>
          <a:p>
            <a:pPr algn="l"/>
            <a:r>
              <a:rPr lang="en-IN" b="0" i="0" dirty="0">
                <a:solidFill>
                  <a:srgbClr val="000000"/>
                </a:solidFill>
                <a:effectLst/>
              </a:rPr>
              <a:t>Build an AI-powered Library AI Agent that assists students in discovering learning resources and accessing library information efficiently. The solution should:</a:t>
            </a:r>
          </a:p>
          <a:p>
            <a:pPr algn="l"/>
            <a:r>
              <a:rPr lang="en-IN" b="0" i="0" dirty="0">
                <a:solidFill>
                  <a:srgbClr val="000000"/>
                </a:solidFill>
                <a:effectLst/>
              </a:rPr>
              <a:t>• Natural Language Search – Allow students to search for books using conversational queries.</a:t>
            </a:r>
          </a:p>
          <a:p>
            <a:pPr algn="l"/>
            <a:r>
              <a:rPr lang="en-IN" b="0" i="0" dirty="0">
                <a:solidFill>
                  <a:srgbClr val="000000"/>
                </a:solidFill>
                <a:effectLst/>
              </a:rPr>
              <a:t>• Book Recommendation System – Suggest books based on subjects, semesters, and learning requirements.</a:t>
            </a:r>
          </a:p>
          <a:p>
            <a:pPr algn="l"/>
            <a:r>
              <a:rPr lang="en-IN" b="0" i="0" dirty="0">
                <a:solidFill>
                  <a:srgbClr val="000000"/>
                </a:solidFill>
                <a:effectLst/>
              </a:rPr>
              <a:t>• Author and Subject Search – Help users find books by author name or subject area.</a:t>
            </a:r>
          </a:p>
          <a:p>
            <a:pPr algn="l"/>
            <a:r>
              <a:rPr lang="en-IN" b="0" i="0" dirty="0">
                <a:solidFill>
                  <a:srgbClr val="000000"/>
                </a:solidFill>
                <a:effectLst/>
              </a:rPr>
              <a:t>• Book Availability Check – Provide information about whether a book is available or currently issued.</a:t>
            </a:r>
          </a:p>
          <a:p>
            <a:pPr algn="l"/>
            <a:r>
              <a:rPr lang="en-IN" b="0" i="0" dirty="0">
                <a:solidFill>
                  <a:srgbClr val="000000"/>
                </a:solidFill>
                <a:effectLst/>
              </a:rPr>
              <a:t>• Semester-wise Recommendations – Recommend books relevant to a student's academic semester.</a:t>
            </a:r>
          </a:p>
          <a:p>
            <a:pPr algn="l"/>
            <a:r>
              <a:rPr lang="en-IN" b="0" i="0" dirty="0">
                <a:solidFill>
                  <a:srgbClr val="000000"/>
                </a:solidFill>
                <a:effectLst/>
              </a:rPr>
              <a:t>• Knowledge-Based Retrieval (RAG) – Retrieve information from the library knowledge base and generate accurate responses.</a:t>
            </a:r>
          </a:p>
          <a:p>
            <a:pPr algn="l"/>
            <a:r>
              <a:rPr lang="en-IN" b="0" i="0" dirty="0">
                <a:solidFill>
                  <a:srgbClr val="000000"/>
                </a:solidFill>
                <a:effectLst/>
              </a:rPr>
              <a:t>• Personalized Learning Support – Guide students toward appropriate learning materials for academic growth.</a:t>
            </a:r>
          </a:p>
          <a:p>
            <a:pPr algn="l"/>
            <a:r>
              <a:rPr lang="en-IN" b="0" i="0" dirty="0">
                <a:solidFill>
                  <a:srgbClr val="000000"/>
                </a:solidFill>
                <a:effectLst/>
              </a:rPr>
              <a:t>• AI-Powered Library Assistance – Improve accessibility, engagement, and utilization of library resources through intelligent interactions.</a:t>
            </a:r>
          </a:p>
          <a:p>
            <a:pPr fontAlgn="base"/>
            <a:endParaRPr lang="en-US" dirty="0"/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47FA31-EA47-D27A-9D69-AF50A3080AEC}"/>
              </a:ext>
            </a:extLst>
          </p:cNvPr>
          <p:cNvSpPr txBox="1"/>
          <p:nvPr/>
        </p:nvSpPr>
        <p:spPr>
          <a:xfrm>
            <a:off x="576072" y="704088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Problem </a:t>
            </a:r>
            <a:r>
              <a:rPr lang="en-US" sz="2400" b="1"/>
              <a:t>Statement 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29525842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6A77E81F-021A-57FB-C709-7E70756491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7CFCB91-EF22-EB8C-5B0D-4D46021F0245}"/>
              </a:ext>
            </a:extLst>
          </p:cNvPr>
          <p:cNvSpPr txBox="1"/>
          <p:nvPr/>
        </p:nvSpPr>
        <p:spPr>
          <a:xfrm>
            <a:off x="667512" y="1165753"/>
            <a:ext cx="106070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endParaRPr lang="en-US" b="1" dirty="0"/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D926A1-0833-2949-651F-2AAB4D91A8C9}"/>
              </a:ext>
            </a:extLst>
          </p:cNvPr>
          <p:cNvSpPr txBox="1"/>
          <p:nvPr/>
        </p:nvSpPr>
        <p:spPr>
          <a:xfrm>
            <a:off x="576072" y="704088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Technology Used </a:t>
            </a:r>
            <a:endParaRPr lang="en-IN" sz="2400" b="1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F953997-09AB-57F1-BB84-4E236781B1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6278548"/>
              </p:ext>
            </p:extLst>
          </p:nvPr>
        </p:nvGraphicFramePr>
        <p:xfrm>
          <a:off x="783771" y="1427363"/>
          <a:ext cx="10307562" cy="2961640"/>
        </p:xfrm>
        <a:graphic>
          <a:graphicData uri="http://schemas.openxmlformats.org/drawingml/2006/table">
            <a:tbl>
              <a:tblPr firstRow="1" bandRow="1">
                <a:tableStyleId>{0AAD8F4D-43EB-41E5-8A38-28AB6DFB1B60}</a:tableStyleId>
              </a:tblPr>
              <a:tblGrid>
                <a:gridCol w="5153781">
                  <a:extLst>
                    <a:ext uri="{9D8B030D-6E8A-4147-A177-3AD203B41FA5}">
                      <a16:colId xmlns:a16="http://schemas.microsoft.com/office/drawing/2014/main" val="965410175"/>
                    </a:ext>
                  </a:extLst>
                </a:gridCol>
                <a:gridCol w="5153781">
                  <a:extLst>
                    <a:ext uri="{9D8B030D-6E8A-4147-A177-3AD203B41FA5}">
                      <a16:colId xmlns:a16="http://schemas.microsoft.com/office/drawing/2014/main" val="324087897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Technology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Purpose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258208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b="0" dirty="0"/>
                        <a:t>IBM </a:t>
                      </a:r>
                      <a:r>
                        <a:rPr lang="en-IN" b="0" dirty="0" err="1"/>
                        <a:t>watsonx.ai</a:t>
                      </a:r>
                      <a:endParaRPr lang="en-IN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Provides the AI platform for managing the Library AI Assistant and integrating AI capabilities.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123942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IBM Granite Models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Understands user queries and generates intelligent responses about books, authors, subjects, and availability.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30299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Retrieval-Augmented Generation (RAG)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Retrieves relevant information from the library dataset before generating accurate responses.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9987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IBM </a:t>
                      </a:r>
                      <a:r>
                        <a:rPr lang="en-IN" sz="14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watsonx</a:t>
                      </a:r>
                      <a:r>
                        <a:rPr lang="en-IN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Orchestrate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Creates, manages, and deploys the Library AI Assistant workflow.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45150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Knowledge Base (Library Dataset)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Stores book details, author names, subjects, semester information, and availability status.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5078147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ADA4E3D-92F9-C7B8-01F1-7493AD928B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3545021"/>
              </p:ext>
            </p:extLst>
          </p:nvPr>
        </p:nvGraphicFramePr>
        <p:xfrm>
          <a:off x="783771" y="4389003"/>
          <a:ext cx="10307562" cy="731520"/>
        </p:xfrm>
        <a:graphic>
          <a:graphicData uri="http://schemas.openxmlformats.org/drawingml/2006/table">
            <a:tbl>
              <a:tblPr firstRow="1" bandRow="1">
                <a:tableStyleId>{0AAD8F4D-43EB-41E5-8A38-28AB6DFB1B60}</a:tableStyleId>
              </a:tblPr>
              <a:tblGrid>
                <a:gridCol w="5153781">
                  <a:extLst>
                    <a:ext uri="{9D8B030D-6E8A-4147-A177-3AD203B41FA5}">
                      <a16:colId xmlns:a16="http://schemas.microsoft.com/office/drawing/2014/main" val="2208015562"/>
                    </a:ext>
                  </a:extLst>
                </a:gridCol>
                <a:gridCol w="5153781">
                  <a:extLst>
                    <a:ext uri="{9D8B030D-6E8A-4147-A177-3AD203B41FA5}">
                      <a16:colId xmlns:a16="http://schemas.microsoft.com/office/drawing/2014/main" val="239202033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AI Agent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Interacts with students, answers queries, recommends books, and provides library information through natural language conversations.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52435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184672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0471B467-61AA-7BCA-460D-43041E805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1BF701-ABCA-4DF0-8330-B6AF71EF8E39}"/>
              </a:ext>
            </a:extLst>
          </p:cNvPr>
          <p:cNvSpPr txBox="1"/>
          <p:nvPr/>
        </p:nvSpPr>
        <p:spPr>
          <a:xfrm>
            <a:off x="576072" y="1234440"/>
            <a:ext cx="1060704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endParaRPr lang="en-US" b="1" dirty="0"/>
          </a:p>
          <a:p>
            <a:pPr algn="l"/>
            <a:r>
              <a:rPr lang="en-IN" sz="1600" b="0" i="0" dirty="0">
                <a:solidFill>
                  <a:srgbClr val="000000"/>
                </a:solidFill>
                <a:effectLst/>
              </a:rPr>
              <a:t>Proposed Solution: Library AI Agent</a:t>
            </a:r>
          </a:p>
          <a:p>
            <a:pPr algn="l"/>
            <a:r>
              <a:rPr lang="en-IN" b="0" i="0" dirty="0">
                <a:solidFill>
                  <a:srgbClr val="000000"/>
                </a:solidFill>
                <a:effectLst/>
              </a:rPr>
              <a:t>The proposed solution is an AI-powered Library AI Agent built using IBM </a:t>
            </a:r>
            <a:r>
              <a:rPr lang="en-IN" b="0" i="0" dirty="0" err="1">
                <a:solidFill>
                  <a:srgbClr val="000000"/>
                </a:solidFill>
                <a:effectLst/>
              </a:rPr>
              <a:t>watsonx</a:t>
            </a:r>
            <a:r>
              <a:rPr lang="en-IN" b="0" i="0" dirty="0">
                <a:solidFill>
                  <a:srgbClr val="000000"/>
                </a:solidFill>
                <a:effectLst/>
              </a:rPr>
              <a:t> Orchestrate, IBM </a:t>
            </a:r>
            <a:r>
              <a:rPr lang="en-IN" b="0" i="0" dirty="0" err="1">
                <a:solidFill>
                  <a:srgbClr val="000000"/>
                </a:solidFill>
                <a:effectLst/>
              </a:rPr>
              <a:t>watsonx.ai</a:t>
            </a:r>
            <a:r>
              <a:rPr lang="en-IN" b="0" i="0" dirty="0">
                <a:solidFill>
                  <a:srgbClr val="000000"/>
                </a:solidFill>
                <a:effectLst/>
              </a:rPr>
              <a:t>, and Granite Models. The system helps students quickly discover relevant books and learning resources through natural language interactions.</a:t>
            </a:r>
          </a:p>
          <a:p>
            <a:pPr algn="l"/>
            <a:r>
              <a:rPr lang="en-IN" b="0" i="0" dirty="0">
                <a:solidFill>
                  <a:srgbClr val="000000"/>
                </a:solidFill>
                <a:effectLst/>
              </a:rPr>
              <a:t>At its core, the solution uses Retrieval-Augmented Generation (RAG) to retrieve accurate information from the library knowledge base. The library dataset contains book details such as title, author, subject, availability status, and semester information.</a:t>
            </a:r>
          </a:p>
          <a:p>
            <a:pPr algn="l"/>
            <a:r>
              <a:rPr lang="en-IN" b="0" i="0" dirty="0">
                <a:solidFill>
                  <a:srgbClr val="000000"/>
                </a:solidFill>
                <a:effectLst/>
              </a:rPr>
              <a:t>The system consists of the following key components:</a:t>
            </a:r>
          </a:p>
          <a:p>
            <a:pPr algn="l"/>
            <a:r>
              <a:rPr lang="en-IN" b="0" i="0" dirty="0">
                <a:solidFill>
                  <a:srgbClr val="000000"/>
                </a:solidFill>
                <a:effectLst/>
              </a:rPr>
              <a:t>Library AI Assistant – Acts as the main interface for students and understands natural language queries.</a:t>
            </a:r>
          </a:p>
          <a:p>
            <a:pPr algn="l"/>
            <a:r>
              <a:rPr lang="en-IN" b="0" i="0" dirty="0">
                <a:solidFill>
                  <a:srgbClr val="000000"/>
                </a:solidFill>
                <a:effectLst/>
              </a:rPr>
              <a:t>Knowledge Base – Stores library information including books, authors, subjects, availability, and semester-wise categorization.</a:t>
            </a:r>
          </a:p>
          <a:p>
            <a:pPr algn="l"/>
            <a:r>
              <a:rPr lang="en-IN" b="0" i="0" dirty="0">
                <a:solidFill>
                  <a:srgbClr val="000000"/>
                </a:solidFill>
                <a:effectLst/>
              </a:rPr>
              <a:t>Recommendation Engine – Suggests books based on subjects, semesters, and student learning requirements.</a:t>
            </a:r>
          </a:p>
          <a:p>
            <a:pPr algn="l"/>
            <a:r>
              <a:rPr lang="en-IN" b="0" i="0" dirty="0">
                <a:solidFill>
                  <a:srgbClr val="000000"/>
                </a:solidFill>
                <a:effectLst/>
              </a:rPr>
              <a:t>Book Search Module – Allows students to search books by title, author, or subject.</a:t>
            </a:r>
          </a:p>
          <a:p>
            <a:pPr algn="l"/>
            <a:r>
              <a:rPr lang="en-IN" b="0" i="0" dirty="0">
                <a:solidFill>
                  <a:srgbClr val="000000"/>
                </a:solidFill>
                <a:effectLst/>
              </a:rPr>
              <a:t>Availability Checker – Provides information about whether a book is available or currently issued.</a:t>
            </a:r>
          </a:p>
          <a:p>
            <a:pPr algn="l"/>
            <a:r>
              <a:rPr lang="en-IN" b="0" i="0" dirty="0">
                <a:solidFill>
                  <a:srgbClr val="000000"/>
                </a:solidFill>
                <a:effectLst/>
              </a:rPr>
              <a:t>Semester Recommendation Module – Recommends books relevant to a student's academic semester.</a:t>
            </a:r>
          </a:p>
          <a:p>
            <a:pPr algn="l"/>
            <a:r>
              <a:rPr lang="en-IN" b="0" i="0" dirty="0">
                <a:solidFill>
                  <a:srgbClr val="000000"/>
                </a:solidFill>
                <a:effectLst/>
              </a:rPr>
              <a:t>IBM </a:t>
            </a:r>
            <a:r>
              <a:rPr lang="en-IN" b="0" i="0" dirty="0" err="1">
                <a:solidFill>
                  <a:srgbClr val="000000"/>
                </a:solidFill>
                <a:effectLst/>
              </a:rPr>
              <a:t>watsonx</a:t>
            </a:r>
            <a:r>
              <a:rPr lang="en-IN" b="0" i="0" dirty="0">
                <a:solidFill>
                  <a:srgbClr val="000000"/>
                </a:solidFill>
                <a:effectLst/>
              </a:rPr>
              <a:t> Orchestrate manages the AI agent workflow, while IBM </a:t>
            </a:r>
            <a:r>
              <a:rPr lang="en-IN" b="0" i="0" dirty="0" err="1">
                <a:solidFill>
                  <a:srgbClr val="000000"/>
                </a:solidFill>
                <a:effectLst/>
              </a:rPr>
              <a:t>watsonx.ai</a:t>
            </a:r>
            <a:r>
              <a:rPr lang="en-IN" b="0" i="0" dirty="0">
                <a:solidFill>
                  <a:srgbClr val="000000"/>
                </a:solidFill>
                <a:effectLst/>
              </a:rPr>
              <a:t> provides AI capabilities and knowledge integration. Granite Models generate intelligent and context-aware responses.</a:t>
            </a:r>
          </a:p>
          <a:p>
            <a:pPr algn="l"/>
            <a:r>
              <a:rPr lang="en-IN" b="0" i="0" dirty="0">
                <a:solidFill>
                  <a:srgbClr val="000000"/>
                </a:solidFill>
                <a:effectLst/>
              </a:rPr>
              <a:t>Overall, the solution provides an intelligent digital library assistant that improves resource discovery, saves student time, and enhances access to academic learning materials.</a:t>
            </a:r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7F30CC-07EF-8FCC-DA00-C9212F5DAECE}"/>
              </a:ext>
            </a:extLst>
          </p:cNvPr>
          <p:cNvSpPr txBox="1"/>
          <p:nvPr/>
        </p:nvSpPr>
        <p:spPr>
          <a:xfrm>
            <a:off x="576072" y="704088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Proposed Solution 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22902949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>
          <a:extLst>
            <a:ext uri="{FF2B5EF4-FFF2-40B4-BE49-F238E27FC236}">
              <a16:creationId xmlns:a16="http://schemas.microsoft.com/office/drawing/2014/main" id="{CDF2A78E-5A0E-6814-8AF4-0AE54B036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">
            <a:extLst>
              <a:ext uri="{FF2B5EF4-FFF2-40B4-BE49-F238E27FC236}">
                <a16:creationId xmlns:a16="http://schemas.microsoft.com/office/drawing/2014/main" id="{2A145802-2DD3-EEBA-7D44-210C05B98C91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IN" sz="2400" b="1" i="0" dirty="0">
                <a:solidFill>
                  <a:srgbClr val="000000"/>
                </a:solidFill>
                <a:effectLst/>
              </a:rPr>
              <a:t>Orchestrate </a:t>
            </a:r>
            <a:r>
              <a:rPr lang="en-US" sz="2400" b="1" dirty="0">
                <a:sym typeface="Times New Roman"/>
              </a:rPr>
              <a:t>component Used </a:t>
            </a:r>
            <a:endParaRPr sz="2400" b="1" dirty="0">
              <a:sym typeface="Times New Roman"/>
            </a:endParaRPr>
          </a:p>
        </p:txBody>
      </p:sp>
      <p:sp>
        <p:nvSpPr>
          <p:cNvPr id="148" name="Google Shape;148;p5">
            <a:extLst>
              <a:ext uri="{FF2B5EF4-FFF2-40B4-BE49-F238E27FC236}">
                <a16:creationId xmlns:a16="http://schemas.microsoft.com/office/drawing/2014/main" id="{69E3EADC-1EAD-7419-145C-20998925206E}"/>
              </a:ext>
            </a:extLst>
          </p:cNvPr>
          <p:cNvSpPr/>
          <p:nvPr/>
        </p:nvSpPr>
        <p:spPr>
          <a:xfrm>
            <a:off x="2264331" y="6784578"/>
            <a:ext cx="2140744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p5">
            <a:extLst>
              <a:ext uri="{FF2B5EF4-FFF2-40B4-BE49-F238E27FC236}">
                <a16:creationId xmlns:a16="http://schemas.microsoft.com/office/drawing/2014/main" id="{04E5872A-C331-C8F3-5D71-8E953BAAFE03}"/>
              </a:ext>
            </a:extLst>
          </p:cNvPr>
          <p:cNvSpPr/>
          <p:nvPr/>
        </p:nvSpPr>
        <p:spPr>
          <a:xfrm>
            <a:off x="1782604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5">
            <a:extLst>
              <a:ext uri="{FF2B5EF4-FFF2-40B4-BE49-F238E27FC236}">
                <a16:creationId xmlns:a16="http://schemas.microsoft.com/office/drawing/2014/main" id="{76EF3801-5D99-5EFA-9AA2-AD265775E354}"/>
              </a:ext>
            </a:extLst>
          </p:cNvPr>
          <p:cNvSpPr/>
          <p:nvPr/>
        </p:nvSpPr>
        <p:spPr>
          <a:xfrm>
            <a:off x="5732383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" name="Google Shape;151;p5">
            <a:extLst>
              <a:ext uri="{FF2B5EF4-FFF2-40B4-BE49-F238E27FC236}">
                <a16:creationId xmlns:a16="http://schemas.microsoft.com/office/drawing/2014/main" id="{DAD76A8A-9F2C-9EA9-25E9-40CD0FFAA869}"/>
              </a:ext>
            </a:extLst>
          </p:cNvPr>
          <p:cNvSpPr/>
          <p:nvPr/>
        </p:nvSpPr>
        <p:spPr>
          <a:xfrm>
            <a:off x="5077301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5">
            <a:extLst>
              <a:ext uri="{FF2B5EF4-FFF2-40B4-BE49-F238E27FC236}">
                <a16:creationId xmlns:a16="http://schemas.microsoft.com/office/drawing/2014/main" id="{8D9C4260-2673-337C-C898-4C22E0F8FD65}"/>
              </a:ext>
            </a:extLst>
          </p:cNvPr>
          <p:cNvSpPr/>
          <p:nvPr/>
        </p:nvSpPr>
        <p:spPr>
          <a:xfrm>
            <a:off x="9027081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5">
            <a:extLst>
              <a:ext uri="{FF2B5EF4-FFF2-40B4-BE49-F238E27FC236}">
                <a16:creationId xmlns:a16="http://schemas.microsoft.com/office/drawing/2014/main" id="{6167C3C6-3747-E373-84C3-3927C443B067}"/>
              </a:ext>
            </a:extLst>
          </p:cNvPr>
          <p:cNvSpPr/>
          <p:nvPr/>
        </p:nvSpPr>
        <p:spPr>
          <a:xfrm>
            <a:off x="8371999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BB86949-7ED1-C43B-B1E3-5122BB67A596}"/>
              </a:ext>
            </a:extLst>
          </p:cNvPr>
          <p:cNvSpPr txBox="1"/>
          <p:nvPr/>
        </p:nvSpPr>
        <p:spPr>
          <a:xfrm>
            <a:off x="474822" y="771921"/>
            <a:ext cx="8823960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algn="l">
              <a:buFont typeface="+mj-lt"/>
              <a:buAutoNum type="arabicPeriod"/>
            </a:pPr>
            <a:r>
              <a:rPr lang="en-IN" b="0" i="0" dirty="0">
                <a:solidFill>
                  <a:srgbClr val="000000"/>
                </a:solidFill>
                <a:effectLst/>
              </a:rPr>
              <a:t>Agent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IN" b="0" i="0" dirty="0">
                <a:solidFill>
                  <a:srgbClr val="000000"/>
                </a:solidFill>
                <a:effectLst/>
              </a:rPr>
              <a:t>Library AI Assistant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IN" b="0" i="0" dirty="0">
                <a:solidFill>
                  <a:srgbClr val="000000"/>
                </a:solidFill>
                <a:effectLst/>
              </a:rPr>
              <a:t>Main AI agent responsible for handling student queries.</a:t>
            </a:r>
          </a:p>
          <a:p>
            <a:pPr algn="l">
              <a:buFont typeface="+mj-lt"/>
              <a:buAutoNum type="arabicPeriod"/>
            </a:pPr>
            <a:r>
              <a:rPr lang="en-IN" b="0" i="0" dirty="0">
                <a:solidFill>
                  <a:srgbClr val="000000"/>
                </a:solidFill>
                <a:effectLst/>
              </a:rPr>
              <a:t>Knowledge Source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IN" b="0" i="0" dirty="0" err="1">
                <a:solidFill>
                  <a:srgbClr val="000000"/>
                </a:solidFill>
                <a:effectLst/>
              </a:rPr>
              <a:t>LibraryBooksKnowledge</a:t>
            </a:r>
            <a:endParaRPr lang="en-IN" b="0" i="0" dirty="0">
              <a:solidFill>
                <a:srgbClr val="000000"/>
              </a:solidFill>
              <a:effectLst/>
            </a:endParaRPr>
          </a:p>
          <a:p>
            <a:pPr marL="742950" lvl="1" indent="-285750" algn="l">
              <a:buFont typeface="+mj-lt"/>
              <a:buAutoNum type="arabicPeriod"/>
            </a:pPr>
            <a:r>
              <a:rPr lang="en-IN" b="0" i="0" dirty="0">
                <a:solidFill>
                  <a:srgbClr val="000000"/>
                </a:solidFill>
                <a:effectLst/>
              </a:rPr>
              <a:t>Connected to the library dataset and used for information retrieval.</a:t>
            </a:r>
          </a:p>
          <a:p>
            <a:pPr algn="l">
              <a:buFont typeface="+mj-lt"/>
              <a:buAutoNum type="arabicPeriod"/>
            </a:pPr>
            <a:r>
              <a:rPr lang="en-IN" b="0" i="0" dirty="0">
                <a:solidFill>
                  <a:srgbClr val="000000"/>
                </a:solidFill>
                <a:effectLst/>
              </a:rPr>
              <a:t>Knowledge Base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IN" b="0" i="0" dirty="0">
                <a:solidFill>
                  <a:srgbClr val="000000"/>
                </a:solidFill>
                <a:effectLst/>
              </a:rPr>
              <a:t>Contains book titles, authors, subjects, availability status, and semester details.</a:t>
            </a:r>
          </a:p>
          <a:p>
            <a:pPr algn="l">
              <a:buFont typeface="+mj-lt"/>
              <a:buAutoNum type="arabicPeriod"/>
            </a:pPr>
            <a:r>
              <a:rPr lang="en-IN" b="0" i="0" dirty="0">
                <a:solidFill>
                  <a:srgbClr val="000000"/>
                </a:solidFill>
                <a:effectLst/>
              </a:rPr>
              <a:t>Foundation Model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IN" b="0" i="0" dirty="0">
                <a:solidFill>
                  <a:srgbClr val="000000"/>
                </a:solidFill>
                <a:effectLst/>
              </a:rPr>
              <a:t>GPT-OSS 120B / IBM Granite Model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IN" b="0" i="0" dirty="0">
                <a:solidFill>
                  <a:srgbClr val="000000"/>
                </a:solidFill>
                <a:effectLst/>
              </a:rPr>
              <a:t>Generates intelligent responses based on retrieved knowledge.</a:t>
            </a:r>
          </a:p>
          <a:p>
            <a:pPr algn="l">
              <a:buFont typeface="+mj-lt"/>
              <a:buAutoNum type="arabicPeriod"/>
            </a:pPr>
            <a:r>
              <a:rPr lang="en-IN" b="0" i="0" dirty="0">
                <a:solidFill>
                  <a:srgbClr val="000000"/>
                </a:solidFill>
                <a:effectLst/>
              </a:rPr>
              <a:t>Prompt Instructions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IN" b="0" i="0" dirty="0">
                <a:solidFill>
                  <a:srgbClr val="000000"/>
                </a:solidFill>
                <a:effectLst/>
              </a:rPr>
              <a:t>Defines agent behavior, book search rules, and recommendation logic.</a:t>
            </a:r>
          </a:p>
          <a:p>
            <a:pPr algn="l">
              <a:buFont typeface="+mj-lt"/>
              <a:buAutoNum type="arabicPeriod"/>
            </a:pPr>
            <a:r>
              <a:rPr lang="en-IN" b="0" i="0" dirty="0">
                <a:solidFill>
                  <a:srgbClr val="000000"/>
                </a:solidFill>
                <a:effectLst/>
              </a:rPr>
              <a:t>Welcome Message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IN" b="0" i="0" dirty="0">
                <a:solidFill>
                  <a:srgbClr val="000000"/>
                </a:solidFill>
                <a:effectLst/>
              </a:rPr>
              <a:t>Provides an introduction to the Library AI Assistant.</a:t>
            </a:r>
          </a:p>
          <a:p>
            <a:pPr algn="l">
              <a:buFont typeface="+mj-lt"/>
              <a:buAutoNum type="arabicPeriod"/>
            </a:pPr>
            <a:r>
              <a:rPr lang="en-IN" b="0" i="0" dirty="0">
                <a:solidFill>
                  <a:srgbClr val="000000"/>
                </a:solidFill>
                <a:effectLst/>
              </a:rPr>
              <a:t>Quick Start Prompts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IN" b="0" i="0" dirty="0">
                <a:solidFill>
                  <a:srgbClr val="000000"/>
                </a:solidFill>
                <a:effectLst/>
              </a:rPr>
              <a:t>Predefined queries for easy interaction and demonstration.</a:t>
            </a:r>
          </a:p>
          <a:p>
            <a:pPr algn="l">
              <a:buFont typeface="+mj-lt"/>
              <a:buAutoNum type="arabicPeriod"/>
            </a:pPr>
            <a:r>
              <a:rPr lang="en-IN" b="0" i="0" dirty="0">
                <a:solidFill>
                  <a:srgbClr val="000000"/>
                </a:solidFill>
                <a:effectLst/>
              </a:rPr>
              <a:t>Chat Interface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IN" b="0" i="0" dirty="0">
                <a:solidFill>
                  <a:srgbClr val="000000"/>
                </a:solidFill>
                <a:effectLst/>
              </a:rPr>
              <a:t>Allows students to communicate with the AI agent using natural language.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85263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CA6090C0-0478-84F9-6D20-717B6FEB7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B64CF172-D2AF-03D8-F919-AA7827A0D969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i="0" u="none" strike="noStrike" cap="none" dirty="0">
                <a:solidFill>
                  <a:srgbClr val="051D3A"/>
                </a:solidFill>
                <a:latin typeface="+mn-lt"/>
                <a:ea typeface="Times New Roman"/>
                <a:cs typeface="Arial" panose="020B0604020202020204" pitchFamily="34" charset="0"/>
                <a:sym typeface="Times New Roman"/>
              </a:rPr>
              <a:t>Orchestrate</a:t>
            </a:r>
            <a:r>
              <a:rPr lang="en-US" sz="2400" b="1" i="0" u="none" strike="noStrike" cap="none" dirty="0">
                <a:solidFill>
                  <a:srgbClr val="051D3A"/>
                </a:solidFill>
                <a:latin typeface="+mn-lt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 dirty="0">
                <a:latin typeface="+mn-lt"/>
                <a:sym typeface="Times New Roman"/>
              </a:rPr>
              <a:t>workflow</a:t>
            </a:r>
            <a:endParaRPr sz="2400" b="1" dirty="0">
              <a:latin typeface="+mn-lt"/>
              <a:sym typeface="Times New Roman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C2491EB-6171-9146-0D78-B16D360ABF80}"/>
              </a:ext>
            </a:extLst>
          </p:cNvPr>
          <p:cNvSpPr/>
          <p:nvPr/>
        </p:nvSpPr>
        <p:spPr>
          <a:xfrm>
            <a:off x="5501981" y="8107"/>
            <a:ext cx="2282023" cy="487017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Student Query</a:t>
            </a:r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52BA90A-CD48-EDC9-32B8-FFAF300EDF19}"/>
              </a:ext>
            </a:extLst>
          </p:cNvPr>
          <p:cNvSpPr/>
          <p:nvPr/>
        </p:nvSpPr>
        <p:spPr>
          <a:xfrm>
            <a:off x="4884756" y="854072"/>
            <a:ext cx="4120348" cy="66102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Library AI Assistant (IBM </a:t>
            </a:r>
            <a:r>
              <a:rPr lang="en-IN" b="0" i="0" u="none" strike="noStrike" dirty="0" err="1">
                <a:solidFill>
                  <a:srgbClr val="000000"/>
                </a:solidFill>
                <a:effectLst/>
              </a:rPr>
              <a:t>watsonx</a:t>
            </a: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 Orchestrate Agent)</a:t>
            </a:r>
            <a:endParaRPr lang="en-I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E361EF0-5E95-47CB-1AFD-49E945624679}"/>
              </a:ext>
            </a:extLst>
          </p:cNvPr>
          <p:cNvSpPr/>
          <p:nvPr/>
        </p:nvSpPr>
        <p:spPr>
          <a:xfrm>
            <a:off x="5305502" y="3572818"/>
            <a:ext cx="2921555" cy="487017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IBM Granite Model Processing</a:t>
            </a:r>
            <a:endParaRPr lang="en-IN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BB6AF16-A8A9-93DF-0FF2-5EDF5D5B2CC6}"/>
              </a:ext>
            </a:extLst>
          </p:cNvPr>
          <p:cNvSpPr/>
          <p:nvPr/>
        </p:nvSpPr>
        <p:spPr>
          <a:xfrm>
            <a:off x="5305504" y="1876326"/>
            <a:ext cx="2921555" cy="487017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Knowledge Base (Library Dataset)</a:t>
            </a:r>
            <a:endParaRPr lang="en-IN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EBE3ABE-2F2E-61CE-CF63-54F16270AA6C}"/>
              </a:ext>
            </a:extLst>
          </p:cNvPr>
          <p:cNvSpPr/>
          <p:nvPr/>
        </p:nvSpPr>
        <p:spPr>
          <a:xfrm>
            <a:off x="4884756" y="4421064"/>
            <a:ext cx="4120348" cy="153439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err="1"/>
              <a:t>C</a:t>
            </a:r>
            <a:r>
              <a:rPr lang="en-IN" b="0" i="0" dirty="0" err="1">
                <a:solidFill>
                  <a:srgbClr val="000000"/>
                </a:solidFill>
                <a:effectLst/>
              </a:rPr>
              <a:t>Generated</a:t>
            </a:r>
            <a:r>
              <a:rPr lang="en-IN" b="0" i="0" dirty="0">
                <a:solidFill>
                  <a:srgbClr val="000000"/>
                </a:solidFill>
                <a:effectLst/>
              </a:rPr>
              <a:t> Output:</a:t>
            </a:r>
            <a:br>
              <a:rPr lang="en-IN" dirty="0"/>
            </a:br>
            <a:r>
              <a:rPr lang="en-IN" b="0" i="0" dirty="0">
                <a:solidFill>
                  <a:srgbClr val="000000"/>
                </a:solidFill>
                <a:effectLst/>
              </a:rPr>
              <a:t>• Book Recommendations</a:t>
            </a:r>
            <a:br>
              <a:rPr lang="en-IN" dirty="0"/>
            </a:br>
            <a:r>
              <a:rPr lang="en-IN" b="0" i="0" dirty="0">
                <a:solidFill>
                  <a:srgbClr val="000000"/>
                </a:solidFill>
                <a:effectLst/>
              </a:rPr>
              <a:t>• Author Information</a:t>
            </a:r>
            <a:br>
              <a:rPr lang="en-IN" dirty="0"/>
            </a:br>
            <a:r>
              <a:rPr lang="en-IN" b="0" i="0" dirty="0">
                <a:solidFill>
                  <a:srgbClr val="000000"/>
                </a:solidFill>
                <a:effectLst/>
              </a:rPr>
              <a:t>• Subject-wise Books</a:t>
            </a:r>
            <a:br>
              <a:rPr lang="en-IN" dirty="0"/>
            </a:br>
            <a:r>
              <a:rPr lang="en-IN" b="0" i="0" dirty="0">
                <a:solidFill>
                  <a:srgbClr val="000000"/>
                </a:solidFill>
                <a:effectLst/>
              </a:rPr>
              <a:t>• Semester-wise Resources</a:t>
            </a:r>
            <a:br>
              <a:rPr lang="en-IN" dirty="0"/>
            </a:br>
            <a:r>
              <a:rPr lang="en-IN" b="0" i="0" dirty="0">
                <a:solidFill>
                  <a:srgbClr val="000000"/>
                </a:solidFill>
                <a:effectLst/>
              </a:rPr>
              <a:t>• Book Availability </a:t>
            </a:r>
            <a:r>
              <a:rPr lang="en-IN" b="0" i="0" dirty="0" err="1">
                <a:solidFill>
                  <a:srgbClr val="000000"/>
                </a:solidFill>
                <a:effectLst/>
              </a:rPr>
              <a:t>Status</a:t>
            </a:r>
            <a:r>
              <a:rPr lang="en-IN" dirty="0" err="1"/>
              <a:t>hat</a:t>
            </a:r>
            <a:r>
              <a:rPr lang="en-IN" dirty="0"/>
              <a:t> Input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6F7BFD9-9FAB-2474-3078-1507F03A66B0}"/>
              </a:ext>
            </a:extLst>
          </p:cNvPr>
          <p:cNvSpPr/>
          <p:nvPr/>
        </p:nvSpPr>
        <p:spPr>
          <a:xfrm>
            <a:off x="5625269" y="2724572"/>
            <a:ext cx="2282023" cy="487017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RAG Retrieval</a:t>
            </a:r>
            <a:endParaRPr lang="en-IN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F3BDCA1-4BEF-4391-95CF-846628293D01}"/>
              </a:ext>
            </a:extLst>
          </p:cNvPr>
          <p:cNvSpPr/>
          <p:nvPr/>
        </p:nvSpPr>
        <p:spPr>
          <a:xfrm>
            <a:off x="5625269" y="6316686"/>
            <a:ext cx="2282023" cy="487017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Chat Response to Student</a:t>
            </a:r>
            <a:endParaRPr lang="en-IN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005F41B-541B-5F6A-27C5-F3071CDD2535}"/>
              </a:ext>
            </a:extLst>
          </p:cNvPr>
          <p:cNvCxnSpPr/>
          <p:nvPr/>
        </p:nvCxnSpPr>
        <p:spPr>
          <a:xfrm>
            <a:off x="6642992" y="522733"/>
            <a:ext cx="1989" cy="28823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39B731C-6B6F-FFAF-C6FD-51CA69FB78D4}"/>
              </a:ext>
            </a:extLst>
          </p:cNvPr>
          <p:cNvCxnSpPr/>
          <p:nvPr/>
        </p:nvCxnSpPr>
        <p:spPr>
          <a:xfrm>
            <a:off x="6642992" y="1551593"/>
            <a:ext cx="1989" cy="28823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47D24F38-5067-7602-EA1F-042EA11AAE91}"/>
              </a:ext>
            </a:extLst>
          </p:cNvPr>
          <p:cNvCxnSpPr/>
          <p:nvPr/>
        </p:nvCxnSpPr>
        <p:spPr>
          <a:xfrm>
            <a:off x="6652101" y="2363343"/>
            <a:ext cx="1989" cy="28823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A2735EE-CB44-BB63-F267-F7E1D1EF1CB4}"/>
              </a:ext>
            </a:extLst>
          </p:cNvPr>
          <p:cNvCxnSpPr/>
          <p:nvPr/>
        </p:nvCxnSpPr>
        <p:spPr>
          <a:xfrm>
            <a:off x="6652101" y="4146129"/>
            <a:ext cx="1989" cy="28823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A93B7E1-AA5B-DDF8-51C4-458FC942EE85}"/>
              </a:ext>
            </a:extLst>
          </p:cNvPr>
          <p:cNvCxnSpPr/>
          <p:nvPr/>
        </p:nvCxnSpPr>
        <p:spPr>
          <a:xfrm>
            <a:off x="6652101" y="3296742"/>
            <a:ext cx="1989" cy="28823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C108C2E4-9C86-7274-AB9A-B0CF52885076}"/>
              </a:ext>
            </a:extLst>
          </p:cNvPr>
          <p:cNvCxnSpPr/>
          <p:nvPr/>
        </p:nvCxnSpPr>
        <p:spPr>
          <a:xfrm>
            <a:off x="6652101" y="5942156"/>
            <a:ext cx="1989" cy="28823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25019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78578745-3233-E2C4-2AF4-55BA57C68D3F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Architecture blueprint</a:t>
            </a:r>
            <a:endParaRPr lang="en-US"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FCC0DAF-6507-054D-0BC2-BB50DD85F6B7}"/>
              </a:ext>
            </a:extLst>
          </p:cNvPr>
          <p:cNvSpPr txBox="1"/>
          <p:nvPr/>
        </p:nvSpPr>
        <p:spPr>
          <a:xfrm>
            <a:off x="950976" y="1097280"/>
            <a:ext cx="7883122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Student</a:t>
            </a:r>
          </a:p>
          <a:p>
            <a:r>
              <a:rPr lang="en-US" sz="2000" dirty="0"/>
              <a:t>   ↓</a:t>
            </a:r>
          </a:p>
          <a:p>
            <a:r>
              <a:rPr lang="en-US" sz="2000" dirty="0"/>
              <a:t>Chat Interface</a:t>
            </a:r>
          </a:p>
          <a:p>
            <a:r>
              <a:rPr lang="en-US" sz="2000" dirty="0"/>
              <a:t>   ↓</a:t>
            </a:r>
          </a:p>
          <a:p>
            <a:r>
              <a:rPr lang="en-US" sz="2000" dirty="0"/>
              <a:t>Library AI Assistant (IBM </a:t>
            </a:r>
            <a:r>
              <a:rPr lang="en-US" sz="2000" dirty="0" err="1"/>
              <a:t>watsonx</a:t>
            </a:r>
            <a:r>
              <a:rPr lang="en-US" sz="2000" dirty="0"/>
              <a:t> Orchestrate)</a:t>
            </a:r>
          </a:p>
          <a:p>
            <a:r>
              <a:rPr lang="en-US" sz="2000" dirty="0"/>
              <a:t>   ↓</a:t>
            </a:r>
          </a:p>
          <a:p>
            <a:r>
              <a:rPr lang="en-US" sz="2000" dirty="0"/>
              <a:t>Knowledge Base (Library Dataset)</a:t>
            </a:r>
          </a:p>
          <a:p>
            <a:r>
              <a:rPr lang="en-US" sz="2000" dirty="0"/>
              <a:t>   ↓</a:t>
            </a:r>
          </a:p>
          <a:p>
            <a:r>
              <a:rPr lang="en-US" sz="2000" dirty="0"/>
              <a:t>RAG Retrieval</a:t>
            </a:r>
          </a:p>
          <a:p>
            <a:r>
              <a:rPr lang="en-US" sz="2000" dirty="0"/>
              <a:t>   ↓</a:t>
            </a:r>
          </a:p>
          <a:p>
            <a:r>
              <a:rPr lang="en-US" sz="2000" dirty="0"/>
              <a:t>IBM Granite Model</a:t>
            </a:r>
          </a:p>
          <a:p>
            <a:r>
              <a:rPr lang="en-US" sz="2000" dirty="0"/>
              <a:t>   ↓</a:t>
            </a:r>
          </a:p>
          <a:p>
            <a:r>
              <a:rPr lang="en-US" sz="2000" dirty="0"/>
              <a:t>Book Search &amp; Recommendation Engine</a:t>
            </a:r>
          </a:p>
          <a:p>
            <a:r>
              <a:rPr lang="en-US" sz="2000" dirty="0"/>
              <a:t>   ↓</a:t>
            </a:r>
          </a:p>
          <a:p>
            <a:r>
              <a:rPr lang="en-US" sz="2000" dirty="0"/>
              <a:t>Book Details + Author Info + Availability Status</a:t>
            </a:r>
          </a:p>
          <a:p>
            <a:r>
              <a:rPr lang="en-US" sz="2000" dirty="0"/>
              <a:t>   ↓</a:t>
            </a:r>
          </a:p>
          <a:p>
            <a:r>
              <a:rPr lang="en-US" sz="2000" dirty="0"/>
              <a:t>Student Response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5977850-F070-187D-7379-E322226235C6}"/>
              </a:ext>
            </a:extLst>
          </p:cNvPr>
          <p:cNvSpPr txBox="1"/>
          <p:nvPr/>
        </p:nvSpPr>
        <p:spPr>
          <a:xfrm>
            <a:off x="10332720" y="2596896"/>
            <a:ext cx="1847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4903F-F21E-E921-45F1-3073EA6487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696" y="365125"/>
            <a:ext cx="6257544" cy="315912"/>
          </a:xfrm>
        </p:spPr>
        <p:txBody>
          <a:bodyPr>
            <a:noAutofit/>
          </a:bodyPr>
          <a:lstStyle/>
          <a:p>
            <a:r>
              <a:rPr lang="en-IN" sz="3200" dirty="0">
                <a:latin typeface="Arial" panose="020B0604020202020204" pitchFamily="34" charset="0"/>
                <a:cs typeface="Arial" panose="020B0604020202020204" pitchFamily="34" charset="0"/>
              </a:rPr>
              <a:t>Results and Outputs</a:t>
            </a:r>
            <a:endParaRPr lang="en-US" sz="32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73DB8B-E7F7-AC95-6D11-DEACA2E8B3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34696" y="896111"/>
            <a:ext cx="3642360" cy="694945"/>
          </a:xfrm>
        </p:spPr>
        <p:txBody>
          <a:bodyPr>
            <a:normAutofit/>
          </a:bodyPr>
          <a:lstStyle/>
          <a:p>
            <a:r>
              <a:rPr lang="en-IN" sz="2000" dirty="0"/>
              <a:t>Agent Configuration-</a:t>
            </a:r>
            <a:endParaRPr lang="en-US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63F9828-6151-1C30-BE80-786D05B8E2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666" y="1396759"/>
            <a:ext cx="5550234" cy="347427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FD29A4E-B519-0674-6500-C88114ABB39F}"/>
              </a:ext>
            </a:extLst>
          </p:cNvPr>
          <p:cNvSpPr txBox="1"/>
          <p:nvPr/>
        </p:nvSpPr>
        <p:spPr>
          <a:xfrm>
            <a:off x="6232967" y="150051"/>
            <a:ext cx="24596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Knowledge Base Setup-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5FD541B-FB60-B546-B50C-4E30A88C77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4930" y="457828"/>
            <a:ext cx="6257544" cy="314002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074A908-EE44-21E2-6E7C-5BA3077C4F5D}"/>
              </a:ext>
            </a:extLst>
          </p:cNvPr>
          <p:cNvSpPr txBox="1"/>
          <p:nvPr/>
        </p:nvSpPr>
        <p:spPr>
          <a:xfrm>
            <a:off x="6096000" y="4871035"/>
            <a:ext cx="21123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User Input-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7479C46-E6BB-AB01-65C8-D84A04CE41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82733" y="3707058"/>
            <a:ext cx="4126238" cy="3038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34492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CD91D4-AB5D-EC16-D8F2-8D04676CC1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112711"/>
            <a:ext cx="3448050" cy="568325"/>
          </a:xfrm>
        </p:spPr>
        <p:txBody>
          <a:bodyPr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400" dirty="0"/>
              <a:t>User Output-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F36F44E-FBC0-FF4C-D388-9088138550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3623404"/>
              </p:ext>
            </p:extLst>
          </p:nvPr>
        </p:nvGraphicFramePr>
        <p:xfrm>
          <a:off x="342900" y="681037"/>
          <a:ext cx="11391900" cy="6064252"/>
        </p:xfrm>
        <a:graphic>
          <a:graphicData uri="http://schemas.openxmlformats.org/drawingml/2006/table">
            <a:tbl>
              <a:tblPr/>
              <a:tblGrid>
                <a:gridCol w="637309">
                  <a:extLst>
                    <a:ext uri="{9D8B030D-6E8A-4147-A177-3AD203B41FA5}">
                      <a16:colId xmlns:a16="http://schemas.microsoft.com/office/drawing/2014/main" val="3999592268"/>
                    </a:ext>
                  </a:extLst>
                </a:gridCol>
                <a:gridCol w="3159991">
                  <a:extLst>
                    <a:ext uri="{9D8B030D-6E8A-4147-A177-3AD203B41FA5}">
                      <a16:colId xmlns:a16="http://schemas.microsoft.com/office/drawing/2014/main" val="3695971537"/>
                    </a:ext>
                  </a:extLst>
                </a:gridCol>
                <a:gridCol w="1898650">
                  <a:extLst>
                    <a:ext uri="{9D8B030D-6E8A-4147-A177-3AD203B41FA5}">
                      <a16:colId xmlns:a16="http://schemas.microsoft.com/office/drawing/2014/main" val="2552566857"/>
                    </a:ext>
                  </a:extLst>
                </a:gridCol>
                <a:gridCol w="1274618">
                  <a:extLst>
                    <a:ext uri="{9D8B030D-6E8A-4147-A177-3AD203B41FA5}">
                      <a16:colId xmlns:a16="http://schemas.microsoft.com/office/drawing/2014/main" val="1159082766"/>
                    </a:ext>
                  </a:extLst>
                </a:gridCol>
                <a:gridCol w="2522682">
                  <a:extLst>
                    <a:ext uri="{9D8B030D-6E8A-4147-A177-3AD203B41FA5}">
                      <a16:colId xmlns:a16="http://schemas.microsoft.com/office/drawing/2014/main" val="2200865184"/>
                    </a:ext>
                  </a:extLst>
                </a:gridCol>
                <a:gridCol w="1898650">
                  <a:extLst>
                    <a:ext uri="{9D8B030D-6E8A-4147-A177-3AD203B41FA5}">
                      <a16:colId xmlns:a16="http://schemas.microsoft.com/office/drawing/2014/main" val="1488130775"/>
                    </a:ext>
                  </a:extLst>
                </a:gridCol>
              </a:tblGrid>
              <a:tr h="492606"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b="0">
                          <a:effectLst/>
                          <a:latin typeface="inherit"/>
                        </a:rPr>
                        <a:t>#</a:t>
                      </a:r>
                    </a:p>
                  </a:txBody>
                  <a:tcPr marL="36021" marR="36021" marT="18011" marB="180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b="0">
                          <a:effectLst/>
                          <a:latin typeface="inherit"/>
                        </a:rPr>
                        <a:t>Title</a:t>
                      </a:r>
                    </a:p>
                  </a:txBody>
                  <a:tcPr marL="36021" marR="36021" marT="18011" marB="180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b="0">
                          <a:effectLst/>
                          <a:latin typeface="inherit"/>
                        </a:rPr>
                        <a:t>Author(s)</a:t>
                      </a:r>
                    </a:p>
                  </a:txBody>
                  <a:tcPr marL="36021" marR="36021" marT="18011" marB="180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b="0">
                          <a:effectLst/>
                          <a:latin typeface="inherit"/>
                        </a:rPr>
                        <a:t>Year</a:t>
                      </a:r>
                    </a:p>
                  </a:txBody>
                  <a:tcPr marL="36021" marR="36021" marT="18011" marB="180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b="0">
                          <a:effectLst/>
                          <a:latin typeface="inherit"/>
                        </a:rPr>
                        <a:t>Why It’s Good for Beginners</a:t>
                      </a:r>
                    </a:p>
                  </a:txBody>
                  <a:tcPr marL="36021" marR="36021" marT="18011" marB="180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b="0">
                          <a:effectLst/>
                          <a:latin typeface="inherit"/>
                        </a:rPr>
                        <a:t>Availability (Campus Library)</a:t>
                      </a:r>
                    </a:p>
                  </a:txBody>
                  <a:tcPr marL="36021" marR="36021" marT="18011" marB="180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55490305"/>
                  </a:ext>
                </a:extLst>
              </a:tr>
              <a:tr h="1336731"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b="0" dirty="0">
                          <a:effectLst/>
                          <a:latin typeface="inherit"/>
                        </a:rPr>
                        <a:t>1</a:t>
                      </a:r>
                    </a:p>
                  </a:txBody>
                  <a:tcPr marL="36021" marR="36021" marT="18011" marB="180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b="0" dirty="0">
                          <a:effectLst/>
                          <a:latin typeface="inherit"/>
                        </a:rPr>
                        <a:t>Artificial Intelligence: A Guide for Thinking Humans</a:t>
                      </a:r>
                    </a:p>
                  </a:txBody>
                  <a:tcPr marL="36021" marR="36021" marT="18011" marB="180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b="0">
                          <a:effectLst/>
                          <a:latin typeface="inherit"/>
                        </a:rPr>
                        <a:t>Melanie Mitchell</a:t>
                      </a:r>
                    </a:p>
                  </a:txBody>
                  <a:tcPr marL="36021" marR="36021" marT="18011" marB="180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b="0" dirty="0">
                          <a:effectLst/>
                          <a:latin typeface="inherit"/>
                        </a:rPr>
                        <a:t>2019</a:t>
                      </a:r>
                    </a:p>
                  </a:txBody>
                  <a:tcPr marL="36021" marR="36021" marT="18011" marB="180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b="0">
                          <a:effectLst/>
                          <a:latin typeface="inherit"/>
                        </a:rPr>
                        <a:t>Written in an engaging, non‑technical style; explains core concepts (machine learning, neural nets, ethics) with real‑world examples.</a:t>
                      </a:r>
                    </a:p>
                  </a:txBody>
                  <a:tcPr marL="36021" marR="36021" marT="18011" marB="180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b="0">
                          <a:effectLst/>
                          <a:latin typeface="inherit"/>
                        </a:rPr>
                        <a:t>Available – 3 copies (2 on shelf, 1 in the digital collection)</a:t>
                      </a:r>
                    </a:p>
                  </a:txBody>
                  <a:tcPr marL="36021" marR="36021" marT="18011" marB="180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47393663"/>
                  </a:ext>
                </a:extLst>
              </a:tr>
              <a:tr h="997705"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b="0">
                          <a:effectLst/>
                          <a:latin typeface="inherit"/>
                        </a:rPr>
                        <a:t>2</a:t>
                      </a:r>
                    </a:p>
                  </a:txBody>
                  <a:tcPr marL="36021" marR="36021" marT="18011" marB="180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b="0">
                          <a:effectLst/>
                          <a:latin typeface="inherit"/>
                        </a:rPr>
                        <a:t>Artificial Intelligence: Foundations of Computational Agents</a:t>
                      </a:r>
                    </a:p>
                  </a:txBody>
                  <a:tcPr marL="36021" marR="36021" marT="18011" marB="180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b="0" dirty="0">
                          <a:effectLst/>
                          <a:latin typeface="inherit"/>
                        </a:rPr>
                        <a:t>David L. Poole &amp; Alan K. Mackworth</a:t>
                      </a:r>
                    </a:p>
                  </a:txBody>
                  <a:tcPr marL="36021" marR="36021" marT="18011" marB="180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b="0" dirty="0">
                          <a:effectLst/>
                          <a:latin typeface="inherit"/>
                        </a:rPr>
                        <a:t>2021 (2nd ed.)</a:t>
                      </a:r>
                    </a:p>
                  </a:txBody>
                  <a:tcPr marL="36021" marR="36021" marT="18011" marB="180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b="0" dirty="0">
                          <a:effectLst/>
                          <a:latin typeface="inherit"/>
                        </a:rPr>
                        <a:t>Provides a gentle introduction to the logical and probabilistic foundations of AI, with clear explanations and exercises.</a:t>
                      </a:r>
                    </a:p>
                  </a:txBody>
                  <a:tcPr marL="36021" marR="36021" marT="18011" marB="180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b="0">
                          <a:effectLst/>
                          <a:latin typeface="inherit"/>
                        </a:rPr>
                        <a:t>Available – 1 copy on shelf</a:t>
                      </a:r>
                    </a:p>
                  </a:txBody>
                  <a:tcPr marL="36021" marR="36021" marT="18011" marB="180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3374121"/>
                  </a:ext>
                </a:extLst>
              </a:tr>
              <a:tr h="1065510"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b="0">
                          <a:effectLst/>
                          <a:latin typeface="inherit"/>
                        </a:rPr>
                        <a:t>3</a:t>
                      </a:r>
                    </a:p>
                  </a:txBody>
                  <a:tcPr marL="36021" marR="36021" marT="18011" marB="180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b="0" dirty="0">
                          <a:effectLst/>
                          <a:latin typeface="inherit"/>
                        </a:rPr>
                        <a:t>AI Superpowers: China, Silicon Valley, and the New World Order</a:t>
                      </a:r>
                    </a:p>
                  </a:txBody>
                  <a:tcPr marL="36021" marR="36021" marT="18011" marB="180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b="0" dirty="0">
                          <a:effectLst/>
                          <a:latin typeface="inherit"/>
                        </a:rPr>
                        <a:t>Kai‑Fu Lee</a:t>
                      </a:r>
                    </a:p>
                  </a:txBody>
                  <a:tcPr marL="36021" marR="36021" marT="18011" marB="180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b="0" dirty="0">
                          <a:effectLst/>
                          <a:latin typeface="inherit"/>
                        </a:rPr>
                        <a:t>2018</a:t>
                      </a:r>
                    </a:p>
                  </a:txBody>
                  <a:tcPr marL="36021" marR="36021" marT="18011" marB="180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b="0">
                          <a:effectLst/>
                          <a:latin typeface="inherit"/>
                        </a:rPr>
                        <a:t>Focuses on the societal impact of AI rather than heavy math; good for readers who want context and motivation.</a:t>
                      </a:r>
                    </a:p>
                  </a:txBody>
                  <a:tcPr marL="36021" marR="36021" marT="18011" marB="180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b="0">
                          <a:effectLst/>
                          <a:latin typeface="inherit"/>
                        </a:rPr>
                        <a:t>Available – Digital PDF (library e‑resource)</a:t>
                      </a:r>
                    </a:p>
                  </a:txBody>
                  <a:tcPr marL="36021" marR="36021" marT="18011" marB="180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2456171"/>
                  </a:ext>
                </a:extLst>
              </a:tr>
              <a:tr h="997705"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b="0">
                          <a:effectLst/>
                          <a:latin typeface="inherit"/>
                        </a:rPr>
                        <a:t>4</a:t>
                      </a:r>
                    </a:p>
                  </a:txBody>
                  <a:tcPr marL="36021" marR="36021" marT="18011" marB="180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b="0">
                          <a:effectLst/>
                          <a:latin typeface="inherit"/>
                        </a:rPr>
                        <a:t>Deep Learning for Beginners: A Visual Introduction</a:t>
                      </a:r>
                    </a:p>
                  </a:txBody>
                  <a:tcPr marL="36021" marR="36021" marT="18011" marB="180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b="0">
                          <a:effectLst/>
                          <a:latin typeface="inherit"/>
                        </a:rPr>
                        <a:t>Dr. Amit Kumar</a:t>
                      </a:r>
                    </a:p>
                  </a:txBody>
                  <a:tcPr marL="36021" marR="36021" marT="18011" marB="180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b="0">
                          <a:effectLst/>
                          <a:latin typeface="inherit"/>
                        </a:rPr>
                        <a:t>2022</a:t>
                      </a:r>
                    </a:p>
                  </a:txBody>
                  <a:tcPr marL="36021" marR="36021" marT="18011" marB="180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b="0">
                          <a:effectLst/>
                          <a:latin typeface="inherit"/>
                        </a:rPr>
                        <a:t>Uses visual diagrams and step‑by‑step walkthroughs of neural‑network basics; minimal prerequisite math.</a:t>
                      </a:r>
                    </a:p>
                  </a:txBody>
                  <a:tcPr marL="36021" marR="36021" marT="18011" marB="180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b="0">
                          <a:effectLst/>
                          <a:latin typeface="inherit"/>
                        </a:rPr>
                        <a:t>Checked Out – Expected return in 3 days</a:t>
                      </a:r>
                    </a:p>
                  </a:txBody>
                  <a:tcPr marL="36021" marR="36021" marT="18011" marB="180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226170"/>
                  </a:ext>
                </a:extLst>
              </a:tr>
              <a:tr h="1173995"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b="0">
                          <a:effectLst/>
                          <a:latin typeface="inherit"/>
                        </a:rPr>
                        <a:t>5</a:t>
                      </a:r>
                    </a:p>
                  </a:txBody>
                  <a:tcPr marL="36021" marR="36021" marT="18011" marB="180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b="0">
                          <a:effectLst/>
                          <a:latin typeface="inherit"/>
                        </a:rPr>
                        <a:t>Machine Learning for Absolute Beginners</a:t>
                      </a:r>
                    </a:p>
                  </a:txBody>
                  <a:tcPr marL="36021" marR="36021" marT="18011" marB="180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b="0">
                          <a:effectLst/>
                          <a:latin typeface="inherit"/>
                        </a:rPr>
                        <a:t>Oliver Theobald</a:t>
                      </a:r>
                    </a:p>
                  </a:txBody>
                  <a:tcPr marL="36021" marR="36021" marT="18011" marB="180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b="0">
                          <a:effectLst/>
                          <a:latin typeface="inherit"/>
                        </a:rPr>
                        <a:t>2020</a:t>
                      </a:r>
                    </a:p>
                  </a:txBody>
                  <a:tcPr marL="36021" marR="36021" marT="18011" marB="180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b="0">
                          <a:effectLst/>
                          <a:latin typeface="inherit"/>
                        </a:rPr>
                        <a:t>Covers the essential ideas of machine learning (a core AI subfield) with plain‑English explanations and simple Python snippets.</a:t>
                      </a:r>
                    </a:p>
                  </a:txBody>
                  <a:tcPr marL="36021" marR="36021" marT="18011" marB="180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b="0" dirty="0">
                          <a:effectLst/>
                          <a:latin typeface="inherit"/>
                        </a:rPr>
                        <a:t>Available – 2 copies (both on shelf)</a:t>
                      </a:r>
                    </a:p>
                  </a:txBody>
                  <a:tcPr marL="36021" marR="36021" marT="18011" marB="180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701490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33068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1985" y="1167493"/>
            <a:ext cx="3015343" cy="452301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84A7B44-8B20-5A39-ED43-DA98D0FC7976}"/>
              </a:ext>
            </a:extLst>
          </p:cNvPr>
          <p:cNvSpPr txBox="1"/>
          <p:nvPr/>
        </p:nvSpPr>
        <p:spPr>
          <a:xfrm>
            <a:off x="475488" y="283464"/>
            <a:ext cx="93177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Role of Agentic AI in the solution </a:t>
            </a:r>
            <a:endParaRPr lang="en-IN" sz="32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2462E8-EB3A-DA7D-44CB-4E757803A755}"/>
              </a:ext>
            </a:extLst>
          </p:cNvPr>
          <p:cNvSpPr txBox="1"/>
          <p:nvPr/>
        </p:nvSpPr>
        <p:spPr>
          <a:xfrm>
            <a:off x="475488" y="1167493"/>
            <a:ext cx="7406640" cy="50475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b="1" i="0" dirty="0">
                <a:solidFill>
                  <a:srgbClr val="000000"/>
                </a:solidFill>
                <a:effectLst/>
              </a:rPr>
              <a:t>Role of Agentic AI in Library AI Agent</a:t>
            </a:r>
          </a:p>
          <a:p>
            <a:pPr algn="l"/>
            <a:r>
              <a:rPr lang="en-IN" i="0" dirty="0">
                <a:solidFill>
                  <a:srgbClr val="000000"/>
                </a:solidFill>
                <a:effectLst/>
              </a:rPr>
              <a:t>Agentic AI enables the Library AI Agent to function as an intelligent and autonomous academic assistant rather than a simple search tool. Using IBM </a:t>
            </a:r>
            <a:r>
              <a:rPr lang="en-IN" i="0" dirty="0" err="1">
                <a:solidFill>
                  <a:srgbClr val="000000"/>
                </a:solidFill>
                <a:effectLst/>
              </a:rPr>
              <a:t>watsonx</a:t>
            </a:r>
            <a:r>
              <a:rPr lang="en-IN" i="0" dirty="0">
                <a:solidFill>
                  <a:srgbClr val="000000"/>
                </a:solidFill>
                <a:effectLst/>
              </a:rPr>
              <a:t> Orchestrate, </a:t>
            </a:r>
            <a:r>
              <a:rPr lang="en-IN" i="0" dirty="0" err="1">
                <a:solidFill>
                  <a:srgbClr val="000000"/>
                </a:solidFill>
                <a:effectLst/>
              </a:rPr>
              <a:t>watsonx.ai</a:t>
            </a:r>
            <a:r>
              <a:rPr lang="en-IN" i="0" dirty="0">
                <a:solidFill>
                  <a:srgbClr val="000000"/>
                </a:solidFill>
                <a:effectLst/>
              </a:rPr>
              <a:t>, and Granite Models, it understands student queries, retrieves relevant information from the library knowledge base, and provides accurate recommendations.</a:t>
            </a:r>
          </a:p>
          <a:p>
            <a:pPr algn="l"/>
            <a:r>
              <a:rPr lang="en-IN" i="0" dirty="0">
                <a:solidFill>
                  <a:srgbClr val="000000"/>
                </a:solidFill>
                <a:effectLst/>
              </a:rPr>
              <a:t>The agent performs multiple tasks such as searching books by title, author, or subject, checking availability status, and recommending books based on academic requirements. This agent-driven approach improves resource discovery and reduces the time students spend searching for learning materials.</a:t>
            </a:r>
          </a:p>
          <a:p>
            <a:pPr algn="l"/>
            <a:r>
              <a:rPr lang="en-IN" i="0" dirty="0">
                <a:solidFill>
                  <a:srgbClr val="000000"/>
                </a:solidFill>
                <a:effectLst/>
              </a:rPr>
              <a:t>Agentic AI provides context awareness, understanding the student's query and retrieving the most relevant books from the library dataset. It can answer natural language questions such as: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i="0" dirty="0">
                <a:solidFill>
                  <a:srgbClr val="000000"/>
                </a:solidFill>
                <a:effectLst/>
              </a:rPr>
              <a:t>"Show me DBMS books"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i="0" dirty="0">
                <a:solidFill>
                  <a:srgbClr val="000000"/>
                </a:solidFill>
                <a:effectLst/>
              </a:rPr>
              <a:t>"Who wrote Database System Concepts?"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i="0" dirty="0">
                <a:solidFill>
                  <a:srgbClr val="000000"/>
                </a:solidFill>
                <a:effectLst/>
              </a:rPr>
              <a:t>"Recommend books for Artificial Intelligence"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i="0" dirty="0">
                <a:solidFill>
                  <a:srgbClr val="000000"/>
                </a:solidFill>
                <a:effectLst/>
              </a:rPr>
              <a:t>"Suggest books for 4th semester students"</a:t>
            </a:r>
          </a:p>
          <a:p>
            <a:pPr algn="l"/>
            <a:r>
              <a:rPr lang="en-IN" i="0" dirty="0">
                <a:solidFill>
                  <a:srgbClr val="000000"/>
                </a:solidFill>
                <a:effectLst/>
              </a:rPr>
              <a:t>The system uses Retrieval-Augmented Generation (RAG) to fetch information from the library knowledge base before generating responses. This ensures that recommendations are accurate, relevant, and based on available library resources.</a:t>
            </a:r>
          </a:p>
          <a:p>
            <a:pPr algn="l"/>
            <a:r>
              <a:rPr lang="en-IN" i="0" dirty="0">
                <a:solidFill>
                  <a:srgbClr val="000000"/>
                </a:solidFill>
                <a:effectLst/>
              </a:rPr>
              <a:t>Additionally, Agentic AI supports personalized learning by guiding students toward suitable books and study materials aligned with their academic interests.</a:t>
            </a:r>
          </a:p>
          <a:p>
            <a:pPr algn="l"/>
            <a:r>
              <a:rPr lang="en-IN" i="0" dirty="0">
                <a:solidFill>
                  <a:srgbClr val="000000"/>
                </a:solidFill>
                <a:effectLst/>
              </a:rPr>
              <a:t>Overall, Agentic AI makes the Library AI Agent intelligent, interactive, and student-centric, helping improve access to educational resources and enhancing the learning </a:t>
            </a:r>
            <a:r>
              <a:rPr lang="en-IN" b="0" i="0" dirty="0">
                <a:solidFill>
                  <a:srgbClr val="000000"/>
                </a:solidFill>
                <a:effectLst/>
              </a:rPr>
              <a:t>experience.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7C2A09DE-0AE2-AA94-B2C1-84FDBDB9D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51FBD4A-3273-E454-091D-D5B0678FC299}"/>
              </a:ext>
            </a:extLst>
          </p:cNvPr>
          <p:cNvSpPr txBox="1"/>
          <p:nvPr/>
        </p:nvSpPr>
        <p:spPr>
          <a:xfrm>
            <a:off x="777240" y="484632"/>
            <a:ext cx="7123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Technology Used</a:t>
            </a:r>
            <a:endParaRPr lang="en-IN" sz="24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7608B5-9906-EFCF-959A-E89FC2E3EE19}"/>
              </a:ext>
            </a:extLst>
          </p:cNvPr>
          <p:cNvSpPr txBox="1"/>
          <p:nvPr/>
        </p:nvSpPr>
        <p:spPr>
          <a:xfrm>
            <a:off x="777240" y="1207008"/>
            <a:ext cx="1051560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IN" sz="1800" b="1" i="0" dirty="0">
                <a:solidFill>
                  <a:srgbClr val="000000"/>
                </a:solidFill>
                <a:effectLst/>
              </a:rPr>
              <a:t>IBM </a:t>
            </a:r>
            <a:r>
              <a:rPr lang="en-IN" sz="1800" b="1" i="0" dirty="0" err="1">
                <a:solidFill>
                  <a:srgbClr val="000000"/>
                </a:solidFill>
                <a:effectLst/>
              </a:rPr>
              <a:t>watsonx</a:t>
            </a:r>
            <a:r>
              <a:rPr lang="en-IN" sz="1800" b="1" i="0" dirty="0">
                <a:solidFill>
                  <a:srgbClr val="000000"/>
                </a:solidFill>
                <a:effectLst/>
              </a:rPr>
              <a:t> Orchestrate</a:t>
            </a:r>
            <a:r>
              <a:rPr lang="en-IN" sz="1800" b="0" i="0" dirty="0">
                <a:solidFill>
                  <a:srgbClr val="000000"/>
                </a:solidFill>
                <a:effectLst/>
              </a:rPr>
              <a:t> – Used to design, build, and manage the Library AI Assistant workflow.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1800" b="1" i="0" dirty="0">
                <a:solidFill>
                  <a:srgbClr val="000000"/>
                </a:solidFill>
                <a:effectLst/>
              </a:rPr>
              <a:t>IBM Granite Models / Foundation Models</a:t>
            </a:r>
            <a:r>
              <a:rPr lang="en-IN" sz="1800" b="0" i="0" dirty="0">
                <a:solidFill>
                  <a:srgbClr val="000000"/>
                </a:solidFill>
                <a:effectLst/>
              </a:rPr>
              <a:t> – Used for natural language understanding, reasoning, and generating intelligent responses to student queries.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1800" b="1" i="0" dirty="0">
                <a:solidFill>
                  <a:srgbClr val="000000"/>
                </a:solidFill>
                <a:effectLst/>
              </a:rPr>
              <a:t>IBM </a:t>
            </a:r>
            <a:r>
              <a:rPr lang="en-IN" sz="1800" b="1" i="0" dirty="0" err="1">
                <a:solidFill>
                  <a:srgbClr val="000000"/>
                </a:solidFill>
                <a:effectLst/>
              </a:rPr>
              <a:t>watsonx.ai</a:t>
            </a:r>
            <a:r>
              <a:rPr lang="en-IN" sz="1800" b="0" i="0" dirty="0">
                <a:solidFill>
                  <a:srgbClr val="000000"/>
                </a:solidFill>
                <a:effectLst/>
              </a:rPr>
              <a:t> – Used for AI model integration, knowledge management, and agent configuration.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1800" b="1" i="0" dirty="0">
                <a:solidFill>
                  <a:srgbClr val="000000"/>
                </a:solidFill>
                <a:effectLst/>
              </a:rPr>
              <a:t>IBM Cloud</a:t>
            </a:r>
            <a:r>
              <a:rPr lang="en-IN" sz="1800" b="0" i="0" dirty="0">
                <a:solidFill>
                  <a:srgbClr val="000000"/>
                </a:solidFill>
                <a:effectLst/>
              </a:rPr>
              <a:t> – Provides a secure, reliable, and scalable platform for deploying and managing the Library AI Agent.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1800" b="1" i="0" dirty="0">
                <a:solidFill>
                  <a:srgbClr val="000000"/>
                </a:solidFill>
                <a:effectLst/>
              </a:rPr>
              <a:t>Knowledge Base</a:t>
            </a:r>
            <a:r>
              <a:rPr lang="en-IN" sz="1800" b="0" i="0" dirty="0">
                <a:solidFill>
                  <a:srgbClr val="000000"/>
                </a:solidFill>
                <a:effectLst/>
              </a:rPr>
              <a:t> – Stores library information such as book titles, authors, subjects, availability status, and semester details.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1800" b="1" i="0" dirty="0">
                <a:solidFill>
                  <a:srgbClr val="000000"/>
                </a:solidFill>
                <a:effectLst/>
              </a:rPr>
              <a:t>RAG (Retrieval-Augmented Generation)</a:t>
            </a:r>
            <a:r>
              <a:rPr lang="en-IN" sz="1800" b="0" i="0" dirty="0">
                <a:solidFill>
                  <a:srgbClr val="000000"/>
                </a:solidFill>
                <a:effectLst/>
              </a:rPr>
              <a:t> – Retrieves relevant information from the library dataset before generating responses, ensuring accurate recommendations.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1800" b="1" i="0" dirty="0">
                <a:solidFill>
                  <a:srgbClr val="000000"/>
                </a:solidFill>
                <a:effectLst/>
              </a:rPr>
              <a:t>Library Dataset (Excel File)</a:t>
            </a:r>
            <a:r>
              <a:rPr lang="en-IN" sz="1800" b="0" i="0" dirty="0">
                <a:solidFill>
                  <a:srgbClr val="000000"/>
                </a:solidFill>
                <a:effectLst/>
              </a:rPr>
              <a:t> – Acts as the primary data source containing all library book records.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1800" b="1" i="0" dirty="0">
                <a:solidFill>
                  <a:srgbClr val="000000"/>
                </a:solidFill>
                <a:effectLst/>
              </a:rPr>
              <a:t>Natural Language Processing (NLP)</a:t>
            </a:r>
            <a:r>
              <a:rPr lang="en-IN" sz="1800" b="0" i="0" dirty="0">
                <a:solidFill>
                  <a:srgbClr val="000000"/>
                </a:solidFill>
                <a:effectLst/>
              </a:rPr>
              <a:t> – Enables students to interact with the system using conversational language instead of traditional keyword searches.</a:t>
            </a:r>
          </a:p>
        </p:txBody>
      </p:sp>
    </p:spTree>
    <p:extLst>
      <p:ext uri="{BB962C8B-B14F-4D97-AF65-F5344CB8AC3E}">
        <p14:creationId xmlns:p14="http://schemas.microsoft.com/office/powerpoint/2010/main" val="37644058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EEDEC80F-FA4E-F3FF-DE90-87B861D0B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FA184BA-BCF2-3D7B-30D0-0F3CF30C161B}"/>
              </a:ext>
            </a:extLst>
          </p:cNvPr>
          <p:cNvSpPr txBox="1"/>
          <p:nvPr/>
        </p:nvSpPr>
        <p:spPr>
          <a:xfrm>
            <a:off x="777240" y="484632"/>
            <a:ext cx="7123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Novelty and Uniqueness</a:t>
            </a:r>
            <a:endParaRPr lang="en-IN" sz="24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65F54F-855A-0DB6-09A6-3212C5F7405B}"/>
              </a:ext>
            </a:extLst>
          </p:cNvPr>
          <p:cNvSpPr txBox="1"/>
          <p:nvPr/>
        </p:nvSpPr>
        <p:spPr>
          <a:xfrm>
            <a:off x="777240" y="1207008"/>
            <a:ext cx="11301984" cy="50475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b="0" i="0" dirty="0">
                <a:solidFill>
                  <a:srgbClr val="000000"/>
                </a:solidFill>
                <a:effectLst/>
              </a:rPr>
              <a:t>The proposed </a:t>
            </a:r>
            <a:r>
              <a:rPr lang="en-IN" b="1" i="0" dirty="0">
                <a:solidFill>
                  <a:srgbClr val="000000"/>
                </a:solidFill>
                <a:effectLst/>
              </a:rPr>
              <a:t>Library AI Agent</a:t>
            </a:r>
            <a:r>
              <a:rPr lang="en-IN" b="0" i="0" dirty="0">
                <a:solidFill>
                  <a:srgbClr val="000000"/>
                </a:solidFill>
                <a:effectLst/>
              </a:rPr>
              <a:t> stands out by combining </a:t>
            </a:r>
            <a:r>
              <a:rPr lang="en-IN" b="1" i="0" dirty="0">
                <a:solidFill>
                  <a:srgbClr val="000000"/>
                </a:solidFill>
                <a:effectLst/>
              </a:rPr>
              <a:t>Agentic AI, Retrieval-Augmented Generation (RAG), and intelligent academic resource discovery</a:t>
            </a:r>
            <a:r>
              <a:rPr lang="en-IN" b="0" i="0" dirty="0">
                <a:solidFill>
                  <a:srgbClr val="000000"/>
                </a:solidFill>
                <a:effectLst/>
              </a:rPr>
              <a:t> into a single system.</a:t>
            </a:r>
          </a:p>
          <a:p>
            <a:pPr algn="l"/>
            <a:r>
              <a:rPr lang="en-IN" b="1" i="0" dirty="0">
                <a:solidFill>
                  <a:srgbClr val="000000"/>
                </a:solidFill>
                <a:effectLst/>
              </a:rPr>
              <a:t>Intelligent Natural Language Search</a:t>
            </a:r>
          </a:p>
          <a:p>
            <a:pPr algn="l"/>
            <a:r>
              <a:rPr lang="en-IN" b="0" i="0" dirty="0">
                <a:solidFill>
                  <a:srgbClr val="000000"/>
                </a:solidFill>
                <a:effectLst/>
              </a:rPr>
              <a:t>Instead of using traditional keyword-based library searches, students can interact with the system using natural language queries such as: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000000"/>
                </a:solidFill>
                <a:effectLst/>
              </a:rPr>
              <a:t>"Show me DBMS books"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000000"/>
                </a:solidFill>
                <a:effectLst/>
              </a:rPr>
              <a:t>"Who wrote Database System Concepts?"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000000"/>
                </a:solidFill>
                <a:effectLst/>
              </a:rPr>
              <a:t>"Suggest books for 4th semester"</a:t>
            </a:r>
          </a:p>
          <a:p>
            <a:pPr algn="l"/>
            <a:r>
              <a:rPr lang="en-IN" b="1" i="0" dirty="0">
                <a:solidFill>
                  <a:srgbClr val="000000"/>
                </a:solidFill>
                <a:effectLst/>
              </a:rPr>
              <a:t>RAG-Based Information Retrieval</a:t>
            </a:r>
          </a:p>
          <a:p>
            <a:pPr algn="l"/>
            <a:r>
              <a:rPr lang="en-IN" b="0" i="0" dirty="0">
                <a:solidFill>
                  <a:srgbClr val="000000"/>
                </a:solidFill>
                <a:effectLst/>
              </a:rPr>
              <a:t>The system retrieves real-time information from the library knowledge base before generating responses, ensuring accurate and relevant recommendations.</a:t>
            </a:r>
          </a:p>
          <a:p>
            <a:pPr algn="l"/>
            <a:r>
              <a:rPr lang="en-IN" b="1" i="0" dirty="0">
                <a:solidFill>
                  <a:srgbClr val="000000"/>
                </a:solidFill>
                <a:effectLst/>
              </a:rPr>
              <a:t>Personalized Book Recommendations</a:t>
            </a:r>
          </a:p>
          <a:p>
            <a:pPr algn="l"/>
            <a:r>
              <a:rPr lang="en-IN" b="0" i="0" dirty="0">
                <a:solidFill>
                  <a:srgbClr val="000000"/>
                </a:solidFill>
                <a:effectLst/>
              </a:rPr>
              <a:t>Provides subject-wise and semester-wise book suggestions based on student academic requirements.</a:t>
            </a:r>
          </a:p>
          <a:p>
            <a:pPr algn="l"/>
            <a:r>
              <a:rPr lang="en-IN" b="1" i="0" dirty="0">
                <a:solidFill>
                  <a:srgbClr val="000000"/>
                </a:solidFill>
                <a:effectLst/>
              </a:rPr>
              <a:t>Author and Subject Discovery</a:t>
            </a:r>
          </a:p>
          <a:p>
            <a:pPr algn="l"/>
            <a:r>
              <a:rPr lang="en-IN" b="0" i="0" dirty="0">
                <a:solidFill>
                  <a:srgbClr val="000000"/>
                </a:solidFill>
                <a:effectLst/>
              </a:rPr>
              <a:t>Allows students to easily find books by specific authors, subjects, or areas of interest.</a:t>
            </a:r>
          </a:p>
          <a:p>
            <a:pPr algn="l"/>
            <a:r>
              <a:rPr lang="en-IN" b="1" i="0" dirty="0">
                <a:solidFill>
                  <a:srgbClr val="000000"/>
                </a:solidFill>
                <a:effectLst/>
              </a:rPr>
              <a:t>Book Availability Tracking</a:t>
            </a:r>
          </a:p>
          <a:p>
            <a:pPr algn="l"/>
            <a:r>
              <a:rPr lang="en-IN" b="0" i="0" dirty="0">
                <a:solidFill>
                  <a:srgbClr val="000000"/>
                </a:solidFill>
                <a:effectLst/>
              </a:rPr>
              <a:t>Helps users identify whether a book is available or currently issued, improving library resource utilization.</a:t>
            </a:r>
          </a:p>
          <a:p>
            <a:pPr algn="l"/>
            <a:r>
              <a:rPr lang="en-IN" b="1" i="0" dirty="0">
                <a:solidFill>
                  <a:srgbClr val="000000"/>
                </a:solidFill>
                <a:effectLst/>
              </a:rPr>
              <a:t>Agentic AI-Powered Assistance</a:t>
            </a:r>
          </a:p>
          <a:p>
            <a:pPr algn="l"/>
            <a:r>
              <a:rPr lang="en-IN" b="0" i="0" dirty="0">
                <a:solidFill>
                  <a:srgbClr val="000000"/>
                </a:solidFill>
                <a:effectLst/>
              </a:rPr>
              <a:t>Uses IBM </a:t>
            </a:r>
            <a:r>
              <a:rPr lang="en-IN" b="0" i="0" dirty="0" err="1">
                <a:solidFill>
                  <a:srgbClr val="000000"/>
                </a:solidFill>
                <a:effectLst/>
              </a:rPr>
              <a:t>watsonx</a:t>
            </a:r>
            <a:r>
              <a:rPr lang="en-IN" b="0" i="0" dirty="0">
                <a:solidFill>
                  <a:srgbClr val="000000"/>
                </a:solidFill>
                <a:effectLst/>
              </a:rPr>
              <a:t> Orchestrate and Granite Models to understand queries, retrieve information, and generate intelligent responses autonomously.</a:t>
            </a:r>
          </a:p>
          <a:p>
            <a:pPr algn="l"/>
            <a:r>
              <a:rPr lang="en-IN" b="1" i="0" dirty="0">
                <a:solidFill>
                  <a:srgbClr val="000000"/>
                </a:solidFill>
                <a:effectLst/>
              </a:rPr>
              <a:t>Student-Centric Learning Support</a:t>
            </a:r>
          </a:p>
          <a:p>
            <a:pPr algn="l"/>
            <a:r>
              <a:rPr lang="en-IN" b="0" i="0" dirty="0">
                <a:solidFill>
                  <a:srgbClr val="000000"/>
                </a:solidFill>
                <a:effectLst/>
              </a:rPr>
              <a:t>Guides students toward appropriate study materials, improving accessibility to academic resources.</a:t>
            </a:r>
          </a:p>
          <a:p>
            <a:pPr algn="l"/>
            <a:r>
              <a:rPr lang="en-IN" b="1" i="0" dirty="0">
                <a:solidFill>
                  <a:srgbClr val="000000"/>
                </a:solidFill>
                <a:effectLst/>
              </a:rPr>
              <a:t>Scalable and Cloud-Based Solution</a:t>
            </a:r>
          </a:p>
          <a:p>
            <a:pPr algn="l"/>
            <a:r>
              <a:rPr lang="en-IN" b="0" i="0" dirty="0">
                <a:solidFill>
                  <a:srgbClr val="000000"/>
                </a:solidFill>
                <a:effectLst/>
              </a:rPr>
              <a:t>Built using IBM Cloud, </a:t>
            </a:r>
            <a:r>
              <a:rPr lang="en-IN" b="0" i="0" dirty="0" err="1">
                <a:solidFill>
                  <a:srgbClr val="000000"/>
                </a:solidFill>
                <a:effectLst/>
              </a:rPr>
              <a:t>watsonx.ai</a:t>
            </a:r>
            <a:r>
              <a:rPr lang="en-IN" b="0" i="0" dirty="0">
                <a:solidFill>
                  <a:srgbClr val="000000"/>
                </a:solidFill>
                <a:effectLst/>
              </a:rPr>
              <a:t>, and Granite Models, ensuring reliability, scalability, and efficient knowledge retrieval.</a:t>
            </a:r>
          </a:p>
        </p:txBody>
      </p:sp>
    </p:spTree>
    <p:extLst>
      <p:ext uri="{BB962C8B-B14F-4D97-AF65-F5344CB8AC3E}">
        <p14:creationId xmlns:p14="http://schemas.microsoft.com/office/powerpoint/2010/main" val="9179641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55016524-E738-3D8C-3BB2-B0BE7C665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D62F03A8-A8A8-CB93-006E-7173DC866F6F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dirty="0">
                <a:sym typeface="Times New Roman"/>
              </a:rPr>
              <a:t>Git Hub Link</a:t>
            </a:r>
            <a:endParaRPr sz="2400" b="1" dirty="0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15507A2F-9304-7475-5C74-2BAA93879CFE}"/>
              </a:ext>
            </a:extLst>
          </p:cNvPr>
          <p:cNvSpPr/>
          <p:nvPr/>
        </p:nvSpPr>
        <p:spPr>
          <a:xfrm>
            <a:off x="1218724" y="1153712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 Please create public </a:t>
            </a:r>
            <a:r>
              <a:rPr lang="en-US" sz="1850" b="0" i="0" u="none" strike="noStrike" cap="none" dirty="0" err="1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github</a:t>
            </a: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repository (Enable Add README  button while creating repository) with format – </a:t>
            </a: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Please test and Paste the working  </a:t>
            </a:r>
            <a:r>
              <a:rPr lang="en-US" sz="1850" dirty="0" err="1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Github</a:t>
            </a:r>
            <a: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URL –</a:t>
            </a:r>
          </a:p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US" sz="1850" b="1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Make sure you have Uploaded following three files into your </a:t>
            </a:r>
            <a:r>
              <a:rPr lang="en-US" sz="1850" b="1" dirty="0" err="1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github</a:t>
            </a:r>
            <a:r>
              <a:rPr lang="en-US" sz="1850" b="1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repository  </a:t>
            </a:r>
            <a:b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1) </a:t>
            </a:r>
            <a:r>
              <a:rPr lang="en-US" sz="1850" dirty="0" err="1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app.json</a:t>
            </a:r>
            <a: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file , 2) yourproblemstatement.pdf file  3) your projectpresntation.pptx file 4)any other files </a:t>
            </a: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A4423EF4-BB52-2693-03DD-9F7D92D05218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FF042814-8077-DBD5-E8B6-E0D870CADB86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6A2761AF-8A54-98F2-52C2-794D9BA61C92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154848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6FA0F82B-7EE5-EAB0-F470-130BDAC82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0668C6FD-577A-7288-5642-1AFC22BD04F2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dirty="0">
                <a:sym typeface="Times New Roman"/>
              </a:rPr>
              <a:t>Future Scope </a:t>
            </a:r>
            <a:endParaRPr sz="2400" b="1" dirty="0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EAFA16CB-0A72-5AC5-69A0-ABF4A752B43F}"/>
              </a:ext>
            </a:extLst>
          </p:cNvPr>
          <p:cNvSpPr/>
          <p:nvPr/>
        </p:nvSpPr>
        <p:spPr>
          <a:xfrm>
            <a:off x="1218724" y="1221715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l"/>
            <a:r>
              <a:rPr lang="en-IN" sz="1600" b="1" i="0" dirty="0">
                <a:solidFill>
                  <a:srgbClr val="000000"/>
                </a:solidFill>
                <a:effectLst/>
              </a:rPr>
              <a:t>1. Book Reservation and Waitlist Management</a:t>
            </a:r>
          </a:p>
          <a:p>
            <a:pPr algn="l"/>
            <a:r>
              <a:rPr lang="en-IN" sz="1600" b="0" i="0" dirty="0">
                <a:solidFill>
                  <a:srgbClr val="000000"/>
                </a:solidFill>
                <a:effectLst/>
              </a:rPr>
              <a:t>The system can be enhanced to allow students to reserve books online and join a waitlist when a book is unavailable. This will improve library resource management and user convenience.</a:t>
            </a:r>
          </a:p>
          <a:p>
            <a:pPr algn="l"/>
            <a:endParaRPr lang="en-IN" sz="1600" b="1" i="0" dirty="0">
              <a:solidFill>
                <a:srgbClr val="000000"/>
              </a:solidFill>
              <a:effectLst/>
            </a:endParaRPr>
          </a:p>
          <a:p>
            <a:pPr algn="l"/>
            <a:r>
              <a:rPr lang="en-IN" sz="1600" b="1" i="0" dirty="0">
                <a:solidFill>
                  <a:srgbClr val="000000"/>
                </a:solidFill>
                <a:effectLst/>
              </a:rPr>
              <a:t>2. Personalized Recommendation System</a:t>
            </a:r>
          </a:p>
          <a:p>
            <a:pPr algn="l"/>
            <a:r>
              <a:rPr lang="en-IN" sz="1600" b="0" i="0" dirty="0">
                <a:solidFill>
                  <a:srgbClr val="000000"/>
                </a:solidFill>
                <a:effectLst/>
              </a:rPr>
              <a:t>Future versions can analyze student interests, academic courses, and previous searches to provide highly personalized book recommendations and learning resources.</a:t>
            </a:r>
            <a:br>
              <a:rPr lang="en-IN" sz="1600" b="0" i="0" dirty="0">
                <a:solidFill>
                  <a:srgbClr val="000000"/>
                </a:solidFill>
                <a:effectLst/>
              </a:rPr>
            </a:br>
            <a:endParaRPr lang="en-IN" sz="1600" b="0" i="0" dirty="0">
              <a:solidFill>
                <a:srgbClr val="000000"/>
              </a:solidFill>
              <a:effectLst/>
            </a:endParaRPr>
          </a:p>
          <a:p>
            <a:pPr algn="l"/>
            <a:r>
              <a:rPr lang="en-IN" sz="1600" b="1" i="0" dirty="0">
                <a:solidFill>
                  <a:srgbClr val="000000"/>
                </a:solidFill>
                <a:effectLst/>
              </a:rPr>
              <a:t>3. Voice-Enabled and Multilingual Support</a:t>
            </a:r>
          </a:p>
          <a:p>
            <a:pPr algn="l"/>
            <a:r>
              <a:rPr lang="en-IN" sz="1600" b="0" i="0" dirty="0">
                <a:solidFill>
                  <a:srgbClr val="000000"/>
                </a:solidFill>
                <a:effectLst/>
              </a:rPr>
              <a:t>The Library AI Agent can be upgraded with voice interaction and support for multiple languages, allowing students to search for books and resources using speech in their preferred language.</a:t>
            </a:r>
          </a:p>
          <a:p>
            <a:pPr algn="l"/>
            <a:endParaRPr lang="en-IN" sz="1600" b="1" dirty="0"/>
          </a:p>
          <a:p>
            <a:pPr algn="l"/>
            <a:r>
              <a:rPr lang="en-IN" sz="1600" b="1" dirty="0"/>
              <a:t>4</a:t>
            </a:r>
            <a:r>
              <a:rPr lang="en-IN" sz="1600" b="1" i="0" dirty="0">
                <a:solidFill>
                  <a:srgbClr val="000000"/>
                </a:solidFill>
                <a:effectLst/>
              </a:rPr>
              <a:t>. Mobile Application Support </a:t>
            </a:r>
            <a:r>
              <a:rPr lang="en-IN" sz="1600" b="0" i="0" dirty="0">
                <a:solidFill>
                  <a:srgbClr val="000000"/>
                </a:solidFill>
                <a:effectLst/>
              </a:rPr>
              <a:t>A dedicated mobile application can be developed to allow students to access the Library AI Agent anytime and anywhere.</a:t>
            </a:r>
          </a:p>
          <a:p>
            <a:pPr algn="l"/>
            <a:endParaRPr lang="en-IN" sz="1600" b="0" i="0" dirty="0">
              <a:solidFill>
                <a:srgbClr val="000000"/>
              </a:solidFill>
              <a:effectLst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B888011B-E4AC-77DB-4A60-BE2C891C49F5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91F05971-9256-10B5-6575-4E7C679C6DAA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F1C3EBC2-438F-C150-9ABF-F14321C2CC5C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367067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190302"/>
            <a:ext cx="12192000" cy="24773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1240</TotalTime>
  <Words>2001</Words>
  <Application>Microsoft Macintosh PowerPoint</Application>
  <PresentationFormat>Widescreen</PresentationFormat>
  <Paragraphs>215</Paragraphs>
  <Slides>16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-webkit-standard</vt:lpstr>
      <vt:lpstr>Arial</vt:lpstr>
      <vt:lpstr>Calibri</vt:lpstr>
      <vt:lpstr>inherit</vt:lpstr>
      <vt:lpstr>Times New Roman</vt:lpstr>
      <vt:lpstr>Office Theme</vt:lpstr>
      <vt:lpstr>IBM University Engagement Project Submission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Results and Outputs</vt:lpstr>
      <vt:lpstr>User Output-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Manda Anirudh</dc:creator>
  <cp:lastModifiedBy>Smriti Karmakar</cp:lastModifiedBy>
  <cp:revision>23</cp:revision>
  <dcterms:created xsi:type="dcterms:W3CDTF">2025-07-08T05:06:56Z</dcterms:created>
  <dcterms:modified xsi:type="dcterms:W3CDTF">2026-06-04T06:27:11Z</dcterms:modified>
</cp:coreProperties>
</file>